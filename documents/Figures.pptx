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60CA-CCBC-D999-3927-4D266BA2B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3EED4-6B12-B80B-FBCD-4BEA1CA4B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12165-627A-D4A7-6381-FB9226F3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293EB-6C0A-CB8D-E8F1-820B8BD1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9E0FD-1B2C-88F3-F39F-0C0A67CE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2614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A051E-F0C7-8BFC-6751-9DA653D1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7DB94-9541-F036-89C5-E3C8C54A9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EF265-299C-5718-9837-2DBBCD76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08092-2623-A28E-7D38-29AAFFE7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D44D5-C5D4-2155-E7C5-D8B3AB0D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627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0D26F-BD8B-8ECB-C9C6-EBE2BE78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61586-5C81-0B0B-45FB-74A8AF8C4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BCE75-E43B-EA42-533A-85CE942E1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86F7-039D-1191-D7EE-FADC5085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754A-B303-F126-7333-4DBBF6399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408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78A3-2538-94D5-CA19-53A2050B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94ADC-2AFE-FEAC-1B7B-948342C1C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08F69-5598-6814-E7E1-36D0B9847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80C2D-27CE-8207-6B61-0E15557DE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8ADE5-F97D-5582-A280-7E3ED568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8F9ED-E92B-F7DD-6CDF-150345F3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1068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2535-2D1C-99BA-04BA-79F42331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B514E-8021-13A8-D6AC-3B3D64F6F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39416-18E4-62CC-8806-61E0E303B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36DF2-CBBC-E9DF-4246-1F93A150C2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04D26-D1E9-1551-ECB5-760702DE7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71A0C5-875B-BB6D-FBFD-4D1A2FEAE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C973F7-2BCB-D067-2623-1B379700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6B4F39-A5D9-39A1-17CA-41E5B1DFC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7818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D886-3473-4A79-0669-B1A780B7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C4F0A-A5C2-54B0-6907-AE6B1E634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90B5F-BF09-BEC3-7C08-2FA3BB4B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83A2D-E3DB-F6BE-D07A-484CCE29C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57246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127A7-9351-299A-2B71-E88208149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3B393D-125D-ACA2-FAC7-714F227A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4F4D0-7998-7A67-A183-3B27F8A0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6739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F3E3F-236A-59FF-9F0F-FBB55509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7C299-D093-88ED-2C5A-6C8B737F9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84D17-46E6-DB35-B0A9-3635FB05A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7A052-617D-273E-D9D4-60039272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459A0-C963-0A02-AE71-AC3994884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36764-E4E4-313B-FBAD-549DE05E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2570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AB39-D7E5-7F5F-5F8F-2F0D61515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7CEA6-181B-B588-B788-7A083CA2F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6F010-ED80-31A6-7C9A-4EABA045F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15354-E473-AF5B-DB8A-B0646C2E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89BCC-AA35-94DD-8EB4-EB42CEDB2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3EAE8-D814-AB33-184C-461BE1896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8900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B07E-8FE5-D424-F15F-A2F9756F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783FB-B768-5BAA-5A62-532AB49CE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8AC0F-1FCF-84FD-58F3-8269BA4E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70C8D-C01A-F9E2-3A8F-5A4D75E4A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3D2D2-6FE4-0953-A10F-0082ED93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641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22F0A1-F515-F36D-A94D-2529B7B18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EAEE2-99AA-E886-E621-B184AA5E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EB1A2-8AA6-9CEB-E0AB-E9641455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BF405-FAB3-546F-5EE0-DA912CC80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DD05B-32BD-0228-1AAB-E3F0A3F1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87687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35D18-AF3B-0F38-AD17-D2F918C4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7EE89-D9B4-180F-7CE8-CAC9AB0B0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3533A-E0C2-3526-2D05-28B803C28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9C18B-B15C-40CF-A333-34862625C136}" type="datetimeFigureOut">
              <a:rPr lang="en-PH" smtClean="0"/>
              <a:t>7/9/2025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BE496-A6E0-7D16-CE3E-1DE78485F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5782B-9178-9A3F-B748-FDA91622E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AEA426-69D2-4655-ABCB-0931A347784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6098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01EF1-6875-8F29-AC76-72285373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E485848-5D98-F4D2-6D51-E763F606BA6A}"/>
              </a:ext>
            </a:extLst>
          </p:cNvPr>
          <p:cNvGrpSpPr/>
          <p:nvPr/>
        </p:nvGrpSpPr>
        <p:grpSpPr>
          <a:xfrm>
            <a:off x="619377" y="3680030"/>
            <a:ext cx="1965960" cy="1941472"/>
            <a:chOff x="3064042" y="481263"/>
            <a:chExt cx="1965960" cy="267648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41760D-E03D-CF53-C79F-93281118A797}"/>
                </a:ext>
              </a:extLst>
            </p:cNvPr>
            <p:cNvGrpSpPr/>
            <p:nvPr/>
          </p:nvGrpSpPr>
          <p:grpSpPr>
            <a:xfrm>
              <a:off x="3064042" y="481263"/>
              <a:ext cx="914400" cy="1274400"/>
              <a:chOff x="3064042" y="481263"/>
              <a:chExt cx="914400" cy="12744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B2B51B9-E1FF-A206-469A-D3C3B377073C}"/>
                  </a:ext>
                </a:extLst>
              </p:cNvPr>
              <p:cNvSpPr/>
              <p:nvPr/>
            </p:nvSpPr>
            <p:spPr>
              <a:xfrm>
                <a:off x="3064042" y="481263"/>
                <a:ext cx="914400" cy="3600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050" dirty="0"/>
                  <a:t>Server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CC5E27-EACC-7AA6-D922-05E89628852A}"/>
                  </a:ext>
                </a:extLst>
              </p:cNvPr>
              <p:cNvSpPr/>
              <p:nvPr/>
            </p:nvSpPr>
            <p:spPr>
              <a:xfrm>
                <a:off x="3064042" y="841263"/>
                <a:ext cx="914400" cy="914400"/>
              </a:xfrm>
              <a:prstGeom prst="rect">
                <a:avLst/>
              </a:prstGeom>
              <a:pattFill prst="ltVert">
                <a:fgClr>
                  <a:schemeClr val="accent5"/>
                </a:fgClr>
                <a:bgClr>
                  <a:schemeClr val="bg1"/>
                </a:bgClr>
              </a:patt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1896230-DF4A-E4CE-1A6F-5CA5A05DCC3A}"/>
                </a:ext>
              </a:extLst>
            </p:cNvPr>
            <p:cNvGrpSpPr/>
            <p:nvPr/>
          </p:nvGrpSpPr>
          <p:grpSpPr>
            <a:xfrm>
              <a:off x="4115602" y="481263"/>
              <a:ext cx="914400" cy="1274400"/>
              <a:chOff x="3064042" y="481263"/>
              <a:chExt cx="914400" cy="12744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C7C1493-538E-8B35-363E-CD853EEC0F5A}"/>
                  </a:ext>
                </a:extLst>
              </p:cNvPr>
              <p:cNvSpPr/>
              <p:nvPr/>
            </p:nvSpPr>
            <p:spPr>
              <a:xfrm>
                <a:off x="3064042" y="481263"/>
                <a:ext cx="914400" cy="3600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050" dirty="0"/>
                  <a:t>Web Page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B86865-780C-5EDC-333C-C80A3FCEBD3B}"/>
                  </a:ext>
                </a:extLst>
              </p:cNvPr>
              <p:cNvSpPr/>
              <p:nvPr/>
            </p:nvSpPr>
            <p:spPr>
              <a:xfrm>
                <a:off x="3064042" y="841263"/>
                <a:ext cx="914400" cy="914400"/>
              </a:xfrm>
              <a:prstGeom prst="rect">
                <a:avLst/>
              </a:prstGeom>
              <a:pattFill prst="ltDnDiag">
                <a:fgClr>
                  <a:schemeClr val="accent3"/>
                </a:fgClr>
                <a:bgClr>
                  <a:schemeClr val="bg1"/>
                </a:bgClr>
              </a:patt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6E8BEB8-2477-1503-28EA-42344EE5DE88}"/>
                </a:ext>
              </a:extLst>
            </p:cNvPr>
            <p:cNvGrpSpPr/>
            <p:nvPr/>
          </p:nvGrpSpPr>
          <p:grpSpPr>
            <a:xfrm>
              <a:off x="3064042" y="1883343"/>
              <a:ext cx="914400" cy="1274400"/>
              <a:chOff x="3064042" y="481263"/>
              <a:chExt cx="914400" cy="12744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64538B1-4CE8-08CE-D8AA-ED9BD3FCF866}"/>
                  </a:ext>
                </a:extLst>
              </p:cNvPr>
              <p:cNvSpPr/>
              <p:nvPr/>
            </p:nvSpPr>
            <p:spPr>
              <a:xfrm>
                <a:off x="3064042" y="481263"/>
                <a:ext cx="914400" cy="36000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050" dirty="0"/>
                  <a:t>Functions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97ECF9B-0612-942C-8035-8264F2E4F001}"/>
                  </a:ext>
                </a:extLst>
              </p:cNvPr>
              <p:cNvSpPr/>
              <p:nvPr/>
            </p:nvSpPr>
            <p:spPr>
              <a:xfrm>
                <a:off x="3064042" y="841263"/>
                <a:ext cx="914400" cy="914400"/>
              </a:xfrm>
              <a:prstGeom prst="rect">
                <a:avLst/>
              </a:prstGeom>
              <a:pattFill prst="divot">
                <a:fgClr>
                  <a:schemeClr val="accent1"/>
                </a:fgClr>
                <a:bgClr>
                  <a:schemeClr val="bg1"/>
                </a:bgClr>
              </a:patt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</p:grp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B8278AED-7E99-1956-C5AC-7E60D2E92C5C}"/>
              </a:ext>
            </a:extLst>
          </p:cNvPr>
          <p:cNvSpPr txBox="1"/>
          <p:nvPr/>
        </p:nvSpPr>
        <p:spPr>
          <a:xfrm>
            <a:off x="1017954" y="3244334"/>
            <a:ext cx="1169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latin typeface="Algerian" panose="04020705040A02060702" pitchFamily="82" charset="0"/>
              </a:rPr>
              <a:t>LEGENDS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3D84AA2-2429-044E-75F8-78DE904930AC}"/>
              </a:ext>
            </a:extLst>
          </p:cNvPr>
          <p:cNvSpPr txBox="1"/>
          <p:nvPr/>
        </p:nvSpPr>
        <p:spPr>
          <a:xfrm>
            <a:off x="155506" y="1114436"/>
            <a:ext cx="30491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dirty="0">
                <a:latin typeface="Algerian" panose="04020705040A02060702" pitchFamily="82" charset="0"/>
              </a:rPr>
              <a:t>Churn Prediction </a:t>
            </a:r>
          </a:p>
          <a:p>
            <a:pPr algn="ctr"/>
            <a:r>
              <a:rPr lang="en-PH" sz="2800" dirty="0">
                <a:latin typeface="Algerian" panose="04020705040A02060702" pitchFamily="82" charset="0"/>
              </a:rPr>
              <a:t>System</a:t>
            </a:r>
          </a:p>
          <a:p>
            <a:pPr algn="ctr"/>
            <a:r>
              <a:rPr lang="en-PH" sz="2800" dirty="0">
                <a:latin typeface="Algerian" panose="04020705040A02060702" pitchFamily="82" charset="0"/>
              </a:rPr>
              <a:t>Architecture</a:t>
            </a: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B1BAFB24-1D4B-AC50-87E4-488867B08796}"/>
              </a:ext>
            </a:extLst>
          </p:cNvPr>
          <p:cNvGrpSpPr/>
          <p:nvPr/>
        </p:nvGrpSpPr>
        <p:grpSpPr>
          <a:xfrm>
            <a:off x="1631131" y="4667658"/>
            <a:ext cx="994011" cy="1056658"/>
            <a:chOff x="1631131" y="5628106"/>
            <a:chExt cx="994011" cy="1056658"/>
          </a:xfrm>
        </p:grpSpPr>
        <p:pic>
          <p:nvPicPr>
            <p:cNvPr id="194" name="Graphic 193" descr="Database with solid fill">
              <a:extLst>
                <a:ext uri="{FF2B5EF4-FFF2-40B4-BE49-F238E27FC236}">
                  <a16:creationId xmlns:a16="http://schemas.microsoft.com/office/drawing/2014/main" id="{C7469321-C960-D3CE-6D65-E91C8BAB0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31131" y="5628106"/>
              <a:ext cx="994011" cy="914400"/>
            </a:xfrm>
            <a:prstGeom prst="rect">
              <a:avLst/>
            </a:prstGeom>
          </p:spPr>
        </p:pic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DBDDFEE2-D7B2-1E2E-A560-AC859720BE9D}"/>
                </a:ext>
              </a:extLst>
            </p:cNvPr>
            <p:cNvSpPr txBox="1"/>
            <p:nvPr/>
          </p:nvSpPr>
          <p:spPr>
            <a:xfrm>
              <a:off x="1765810" y="6479135"/>
              <a:ext cx="724651" cy="20562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txBody>
            <a:bodyPr wrap="square" lIns="18000" tIns="18000" rIns="18000" bIns="18000" rtlCol="0">
              <a:spAutoFit/>
            </a:bodyPr>
            <a:lstStyle/>
            <a:p>
              <a:pPr algn="ctr"/>
              <a:r>
                <a:rPr lang="en-PH" sz="1100" dirty="0">
                  <a:solidFill>
                    <a:schemeClr val="bg1"/>
                  </a:solidFill>
                </a:rPr>
                <a:t>Database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569E7C1A-9806-A478-A144-E8CC91FAD078}"/>
              </a:ext>
            </a:extLst>
          </p:cNvPr>
          <p:cNvGrpSpPr/>
          <p:nvPr/>
        </p:nvGrpSpPr>
        <p:grpSpPr>
          <a:xfrm>
            <a:off x="3524746" y="932679"/>
            <a:ext cx="6445361" cy="4855412"/>
            <a:chOff x="4877296" y="772694"/>
            <a:chExt cx="6445361" cy="4855412"/>
          </a:xfrm>
        </p:grpSpPr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6A4D9158-2FDE-934B-386C-7CA22BFC9EE2}"/>
                </a:ext>
              </a:extLst>
            </p:cNvPr>
            <p:cNvGrpSpPr/>
            <p:nvPr/>
          </p:nvGrpSpPr>
          <p:grpSpPr>
            <a:xfrm>
              <a:off x="4877296" y="772694"/>
              <a:ext cx="6445361" cy="4855412"/>
              <a:chOff x="3676649" y="152400"/>
              <a:chExt cx="6445361" cy="4855412"/>
            </a:xfrm>
          </p:grpSpPr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D864749C-553F-3FAF-906C-6FF9D87773FD}"/>
                  </a:ext>
                </a:extLst>
              </p:cNvPr>
              <p:cNvGrpSpPr/>
              <p:nvPr/>
            </p:nvGrpSpPr>
            <p:grpSpPr>
              <a:xfrm>
                <a:off x="3676649" y="152400"/>
                <a:ext cx="6445361" cy="4855412"/>
                <a:chOff x="3676649" y="152400"/>
                <a:chExt cx="8239125" cy="4855412"/>
              </a:xfrm>
            </p:grpSpPr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8B27F1C0-3CBF-C57B-4C09-CA30040D43AA}"/>
                    </a:ext>
                  </a:extLst>
                </p:cNvPr>
                <p:cNvSpPr/>
                <p:nvPr/>
              </p:nvSpPr>
              <p:spPr>
                <a:xfrm>
                  <a:off x="3676650" y="152400"/>
                  <a:ext cx="8239124" cy="47271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PH" dirty="0"/>
                    <a:t>Churn Prediction Interface</a:t>
                  </a:r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46A03049-3F6A-2EC0-1E00-0081A715B073}"/>
                    </a:ext>
                  </a:extLst>
                </p:cNvPr>
                <p:cNvSpPr/>
                <p:nvPr/>
              </p:nvSpPr>
              <p:spPr>
                <a:xfrm>
                  <a:off x="3676649" y="625109"/>
                  <a:ext cx="8239125" cy="4382703"/>
                </a:xfrm>
                <a:prstGeom prst="rect">
                  <a:avLst/>
                </a:prstGeom>
                <a:pattFill prst="ltVert">
                  <a:fgClr>
                    <a:schemeClr val="accent5"/>
                  </a:fgClr>
                  <a:bgClr>
                    <a:schemeClr val="bg1"/>
                  </a:bgClr>
                </a:patt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 dirty="0"/>
                </a:p>
              </p:txBody>
            </p: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B4B84022-08E7-B70F-83B2-E01EDAF5887C}"/>
                  </a:ext>
                </a:extLst>
              </p:cNvPr>
              <p:cNvGrpSpPr/>
              <p:nvPr/>
            </p:nvGrpSpPr>
            <p:grpSpPr>
              <a:xfrm>
                <a:off x="3956415" y="918663"/>
                <a:ext cx="5879767" cy="3492386"/>
                <a:chOff x="3868951" y="785010"/>
                <a:chExt cx="5879767" cy="3492386"/>
              </a:xfrm>
            </p:grpSpPr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158C86FF-41E9-187B-985D-3AA20BAB157F}"/>
                    </a:ext>
                  </a:extLst>
                </p:cNvPr>
                <p:cNvGrpSpPr/>
                <p:nvPr/>
              </p:nvGrpSpPr>
              <p:grpSpPr>
                <a:xfrm>
                  <a:off x="3868952" y="785010"/>
                  <a:ext cx="2776091" cy="1857167"/>
                  <a:chOff x="4707954" y="314665"/>
                  <a:chExt cx="2776091" cy="1857167"/>
                </a:xfrm>
              </p:grpSpPr>
              <p:grpSp>
                <p:nvGrpSpPr>
                  <p:cNvPr id="76" name="Group 75">
                    <a:extLst>
                      <a:ext uri="{FF2B5EF4-FFF2-40B4-BE49-F238E27FC236}">
                        <a16:creationId xmlns:a16="http://schemas.microsoft.com/office/drawing/2014/main" id="{FDBE51F8-C019-1F75-FCA7-71558A3B68AD}"/>
                      </a:ext>
                    </a:extLst>
                  </p:cNvPr>
                  <p:cNvGrpSpPr/>
                  <p:nvPr/>
                </p:nvGrpSpPr>
                <p:grpSpPr>
                  <a:xfrm>
                    <a:off x="4707954" y="314665"/>
                    <a:ext cx="2776091" cy="1857167"/>
                    <a:chOff x="2065822" y="3346383"/>
                    <a:chExt cx="914400" cy="2063904"/>
                  </a:xfrm>
                </p:grpSpPr>
                <p:sp>
                  <p:nvSpPr>
                    <p:cNvPr id="77" name="Rectangle 76">
                      <a:extLst>
                        <a:ext uri="{FF2B5EF4-FFF2-40B4-BE49-F238E27FC236}">
                          <a16:creationId xmlns:a16="http://schemas.microsoft.com/office/drawing/2014/main" id="{A00CDAD5-2C8A-3E81-E6E3-2A74F29CFA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5822" y="3346383"/>
                      <a:ext cx="914400" cy="400075"/>
                    </a:xfrm>
                    <a:prstGeom prst="rect">
                      <a:avLst/>
                    </a:prstGeom>
                    <a:solidFill>
                      <a:schemeClr val="accent3"/>
                    </a:solidFill>
                    <a:ln>
                      <a:solidFill>
                        <a:schemeClr val="accent3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PH" sz="1600" dirty="0"/>
                        <a:t>Train Model</a:t>
                      </a:r>
                    </a:p>
                  </p:txBody>
                </p:sp>
                <p:sp>
                  <p:nvSpPr>
                    <p:cNvPr id="78" name="Rectangle 77">
                      <a:extLst>
                        <a:ext uri="{FF2B5EF4-FFF2-40B4-BE49-F238E27FC236}">
                          <a16:creationId xmlns:a16="http://schemas.microsoft.com/office/drawing/2014/main" id="{FFD55F2B-DCDA-2D7F-75ED-B57F3896BD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5822" y="3746458"/>
                      <a:ext cx="914400" cy="1663829"/>
                    </a:xfrm>
                    <a:prstGeom prst="rect">
                      <a:avLst/>
                    </a:prstGeom>
                    <a:pattFill prst="ltDnDiag">
                      <a:fgClr>
                        <a:schemeClr val="accent3"/>
                      </a:fgClr>
                      <a:bgClr>
                        <a:schemeClr val="bg1"/>
                      </a:bgClr>
                    </a:pattFill>
                    <a:ln>
                      <a:solidFill>
                        <a:schemeClr val="accent3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t"/>
                    <a:lstStyle/>
                    <a:p>
                      <a:endParaRPr lang="en-PH" sz="12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573B3E67-22D5-5ACE-EF18-20301C62C858}"/>
                      </a:ext>
                    </a:extLst>
                  </p:cNvPr>
                  <p:cNvGrpSpPr/>
                  <p:nvPr/>
                </p:nvGrpSpPr>
                <p:grpSpPr>
                  <a:xfrm>
                    <a:off x="4852329" y="785828"/>
                    <a:ext cx="2487339" cy="1177440"/>
                    <a:chOff x="4185145" y="4078782"/>
                    <a:chExt cx="2311221" cy="1177440"/>
                  </a:xfrm>
                </p:grpSpPr>
                <p:grpSp>
                  <p:nvGrpSpPr>
                    <p:cNvPr id="108" name="Group 107">
                      <a:extLst>
                        <a:ext uri="{FF2B5EF4-FFF2-40B4-BE49-F238E27FC236}">
                          <a16:creationId xmlns:a16="http://schemas.microsoft.com/office/drawing/2014/main" id="{AFF93D75-C1FE-6FD8-F10B-65BD3DEEAA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5145" y="4078782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06" name="Rectangle 105">
                        <a:extLst>
                          <a:ext uri="{FF2B5EF4-FFF2-40B4-BE49-F238E27FC236}">
                            <a16:creationId xmlns:a16="http://schemas.microsoft.com/office/drawing/2014/main" id="{9A767C44-0990-4EC7-1072-DD30B43BC4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1.</a:t>
                        </a:r>
                      </a:p>
                    </p:txBody>
                  </p:sp>
                  <p:sp>
                    <p:nvSpPr>
                      <p:cNvPr id="107" name="Rectangle 106">
                        <a:extLst>
                          <a:ext uri="{FF2B5EF4-FFF2-40B4-BE49-F238E27FC236}">
                            <a16:creationId xmlns:a16="http://schemas.microsoft.com/office/drawing/2014/main" id="{AEDC116D-3916-1F08-A418-0B403E39BB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Upload Training Data</a:t>
                        </a:r>
                      </a:p>
                    </p:txBody>
                  </p:sp>
                </p:grpSp>
                <p:grpSp>
                  <p:nvGrpSpPr>
                    <p:cNvPr id="109" name="Group 108">
                      <a:extLst>
                        <a:ext uri="{FF2B5EF4-FFF2-40B4-BE49-F238E27FC236}">
                          <a16:creationId xmlns:a16="http://schemas.microsoft.com/office/drawing/2014/main" id="{E59BD176-DE82-0C1B-238F-F1C1F27D2B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5145" y="4389448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10" name="Rectangle 109">
                        <a:extLst>
                          <a:ext uri="{FF2B5EF4-FFF2-40B4-BE49-F238E27FC236}">
                            <a16:creationId xmlns:a16="http://schemas.microsoft.com/office/drawing/2014/main" id="{E0B1B3D0-B982-15AD-0D85-5296DCBFE2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2.</a:t>
                        </a:r>
                      </a:p>
                    </p:txBody>
                  </p:sp>
                  <p:sp>
                    <p:nvSpPr>
                      <p:cNvPr id="111" name="Rectangle 110">
                        <a:extLst>
                          <a:ext uri="{FF2B5EF4-FFF2-40B4-BE49-F238E27FC236}">
                            <a16:creationId xmlns:a16="http://schemas.microsoft.com/office/drawing/2014/main" id="{1D5BA0CE-C980-6608-8FA4-8DA805EC20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View Training Data</a:t>
                        </a:r>
                      </a:p>
                    </p:txBody>
                  </p:sp>
                </p:grpSp>
                <p:grpSp>
                  <p:nvGrpSpPr>
                    <p:cNvPr id="112" name="Group 111">
                      <a:extLst>
                        <a:ext uri="{FF2B5EF4-FFF2-40B4-BE49-F238E27FC236}">
                          <a16:creationId xmlns:a16="http://schemas.microsoft.com/office/drawing/2014/main" id="{4E59C135-59C8-5F22-85FA-37D026C39C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5145" y="4700114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13" name="Rectangle 112">
                        <a:extLst>
                          <a:ext uri="{FF2B5EF4-FFF2-40B4-BE49-F238E27FC236}">
                            <a16:creationId xmlns:a16="http://schemas.microsoft.com/office/drawing/2014/main" id="{F25E3809-8EDB-FA74-AED4-A67642306F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3.</a:t>
                        </a:r>
                      </a:p>
                    </p:txBody>
                  </p:sp>
                  <p:sp>
                    <p:nvSpPr>
                      <p:cNvPr id="114" name="Rectangle 113">
                        <a:extLst>
                          <a:ext uri="{FF2B5EF4-FFF2-40B4-BE49-F238E27FC236}">
                            <a16:creationId xmlns:a16="http://schemas.microsoft.com/office/drawing/2014/main" id="{E1681907-9690-2990-4A8B-9D0095394A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Train Model</a:t>
                        </a:r>
                      </a:p>
                    </p:txBody>
                  </p:sp>
                </p:grpSp>
                <p:grpSp>
                  <p:nvGrpSpPr>
                    <p:cNvPr id="115" name="Group 114">
                      <a:extLst>
                        <a:ext uri="{FF2B5EF4-FFF2-40B4-BE49-F238E27FC236}">
                          <a16:creationId xmlns:a16="http://schemas.microsoft.com/office/drawing/2014/main" id="{6DA75E55-5C29-96E2-21FA-6EE13292AD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5145" y="5004222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16" name="Rectangle 115">
                        <a:extLst>
                          <a:ext uri="{FF2B5EF4-FFF2-40B4-BE49-F238E27FC236}">
                            <a16:creationId xmlns:a16="http://schemas.microsoft.com/office/drawing/2014/main" id="{5D1BA9E5-FE5A-95A7-5370-E5A3F7F092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4.</a:t>
                        </a:r>
                      </a:p>
                    </p:txBody>
                  </p:sp>
                  <p:sp>
                    <p:nvSpPr>
                      <p:cNvPr id="117" name="Rectangle 116">
                        <a:extLst>
                          <a:ext uri="{FF2B5EF4-FFF2-40B4-BE49-F238E27FC236}">
                            <a16:creationId xmlns:a16="http://schemas.microsoft.com/office/drawing/2014/main" id="{9954D164-FB68-837E-4278-540207CC0B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View Modelling Results</a:t>
                        </a:r>
                      </a:p>
                    </p:txBody>
                  </p:sp>
                </p:grpSp>
              </p:grp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B94D223E-9604-B51C-13BB-0E1721C70838}"/>
                    </a:ext>
                  </a:extLst>
                </p:cNvPr>
                <p:cNvGrpSpPr/>
                <p:nvPr/>
              </p:nvGrpSpPr>
              <p:grpSpPr>
                <a:xfrm>
                  <a:off x="6972627" y="788667"/>
                  <a:ext cx="2776091" cy="2753017"/>
                  <a:chOff x="7716479" y="315402"/>
                  <a:chExt cx="2776091" cy="2753017"/>
                </a:xfrm>
              </p:grpSpPr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DBA70950-9E99-19DA-4F25-D98DFFBF846F}"/>
                      </a:ext>
                    </a:extLst>
                  </p:cNvPr>
                  <p:cNvGrpSpPr/>
                  <p:nvPr/>
                </p:nvGrpSpPr>
                <p:grpSpPr>
                  <a:xfrm>
                    <a:off x="7716479" y="315402"/>
                    <a:ext cx="2776091" cy="2753017"/>
                    <a:chOff x="2065822" y="3346383"/>
                    <a:chExt cx="914400" cy="3059479"/>
                  </a:xfrm>
                </p:grpSpPr>
                <p:sp>
                  <p:nvSpPr>
                    <p:cNvPr id="99" name="Rectangle 98">
                      <a:extLst>
                        <a:ext uri="{FF2B5EF4-FFF2-40B4-BE49-F238E27FC236}">
                          <a16:creationId xmlns:a16="http://schemas.microsoft.com/office/drawing/2014/main" id="{8150B3C0-94F4-2C6D-85EB-AFB9A80D03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5822" y="3346383"/>
                      <a:ext cx="914400" cy="400075"/>
                    </a:xfrm>
                    <a:prstGeom prst="rect">
                      <a:avLst/>
                    </a:prstGeom>
                    <a:solidFill>
                      <a:schemeClr val="accent3"/>
                    </a:solidFill>
                    <a:ln>
                      <a:solidFill>
                        <a:schemeClr val="accent3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PH" sz="1600" dirty="0"/>
                        <a:t>Run Inference</a:t>
                      </a:r>
                    </a:p>
                  </p:txBody>
                </p:sp>
                <p:sp>
                  <p:nvSpPr>
                    <p:cNvPr id="100" name="Rectangle 99">
                      <a:extLst>
                        <a:ext uri="{FF2B5EF4-FFF2-40B4-BE49-F238E27FC236}">
                          <a16:creationId xmlns:a16="http://schemas.microsoft.com/office/drawing/2014/main" id="{93E23BFC-EA08-9B2C-4C91-9BC8F9AF4A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5822" y="3746458"/>
                      <a:ext cx="914400" cy="2659404"/>
                    </a:xfrm>
                    <a:prstGeom prst="rect">
                      <a:avLst/>
                    </a:prstGeom>
                    <a:pattFill prst="ltDnDiag">
                      <a:fgClr>
                        <a:schemeClr val="accent3"/>
                      </a:fgClr>
                      <a:bgClr>
                        <a:schemeClr val="bg1"/>
                      </a:bgClr>
                    </a:pattFill>
                    <a:ln>
                      <a:solidFill>
                        <a:schemeClr val="accent3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t"/>
                    <a:lstStyle/>
                    <a:p>
                      <a:endParaRPr lang="en-PH" sz="12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51" name="Group 150">
                    <a:extLst>
                      <a:ext uri="{FF2B5EF4-FFF2-40B4-BE49-F238E27FC236}">
                        <a16:creationId xmlns:a16="http://schemas.microsoft.com/office/drawing/2014/main" id="{0E87074B-316E-8C0C-9A0A-64A614942558}"/>
                      </a:ext>
                    </a:extLst>
                  </p:cNvPr>
                  <p:cNvGrpSpPr/>
                  <p:nvPr/>
                </p:nvGrpSpPr>
                <p:grpSpPr>
                  <a:xfrm>
                    <a:off x="7869262" y="780358"/>
                    <a:ext cx="2487339" cy="2113819"/>
                    <a:chOff x="3557404" y="2632498"/>
                    <a:chExt cx="2311221" cy="2113819"/>
                  </a:xfrm>
                </p:grpSpPr>
                <p:grpSp>
                  <p:nvGrpSpPr>
                    <p:cNvPr id="120" name="Group 119">
                      <a:extLst>
                        <a:ext uri="{FF2B5EF4-FFF2-40B4-BE49-F238E27FC236}">
                          <a16:creationId xmlns:a16="http://schemas.microsoft.com/office/drawing/2014/main" id="{1CCF4BC7-D20F-52B5-7BBA-71DCED1B02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57404" y="2632498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30" name="Rectangle 129">
                        <a:extLst>
                          <a:ext uri="{FF2B5EF4-FFF2-40B4-BE49-F238E27FC236}">
                            <a16:creationId xmlns:a16="http://schemas.microsoft.com/office/drawing/2014/main" id="{1ECDA353-C31D-6B6C-FFB7-51137A834B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1.</a:t>
                        </a:r>
                      </a:p>
                    </p:txBody>
                  </p:sp>
                  <p:sp>
                    <p:nvSpPr>
                      <p:cNvPr id="131" name="Rectangle 130">
                        <a:extLst>
                          <a:ext uri="{FF2B5EF4-FFF2-40B4-BE49-F238E27FC236}">
                            <a16:creationId xmlns:a16="http://schemas.microsoft.com/office/drawing/2014/main" id="{5D478F7A-0BC7-E7D5-F552-B672390B3D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Upload Scoring Data</a:t>
                        </a:r>
                      </a:p>
                    </p:txBody>
                  </p:sp>
                </p:grpSp>
                <p:grpSp>
                  <p:nvGrpSpPr>
                    <p:cNvPr id="121" name="Group 120">
                      <a:extLst>
                        <a:ext uri="{FF2B5EF4-FFF2-40B4-BE49-F238E27FC236}">
                          <a16:creationId xmlns:a16="http://schemas.microsoft.com/office/drawing/2014/main" id="{D28AF8F0-7DAE-6B27-D388-6C4C0B0D9E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57404" y="2943164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28" name="Rectangle 127">
                        <a:extLst>
                          <a:ext uri="{FF2B5EF4-FFF2-40B4-BE49-F238E27FC236}">
                            <a16:creationId xmlns:a16="http://schemas.microsoft.com/office/drawing/2014/main" id="{8C9EB89A-3773-B25D-2FA0-72059108C3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2.</a:t>
                        </a:r>
                      </a:p>
                    </p:txBody>
                  </p:sp>
                  <p:sp>
                    <p:nvSpPr>
                      <p:cNvPr id="129" name="Rectangle 128">
                        <a:extLst>
                          <a:ext uri="{FF2B5EF4-FFF2-40B4-BE49-F238E27FC236}">
                            <a16:creationId xmlns:a16="http://schemas.microsoft.com/office/drawing/2014/main" id="{148A5A49-7E4F-A459-097E-7ADE8D23C0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View Scoring Data</a:t>
                        </a:r>
                      </a:p>
                    </p:txBody>
                  </p:sp>
                </p:grpSp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7D84408E-E134-B450-EF67-F69881DF7C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57404" y="3253830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26" name="Rectangle 125">
                        <a:extLst>
                          <a:ext uri="{FF2B5EF4-FFF2-40B4-BE49-F238E27FC236}">
                            <a16:creationId xmlns:a16="http://schemas.microsoft.com/office/drawing/2014/main" id="{242EFE93-6990-1A5A-1A15-4FD0EFFEB7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3.</a:t>
                        </a:r>
                      </a:p>
                    </p:txBody>
                  </p:sp>
                  <p:sp>
                    <p:nvSpPr>
                      <p:cNvPr id="127" name="Rectangle 126">
                        <a:extLst>
                          <a:ext uri="{FF2B5EF4-FFF2-40B4-BE49-F238E27FC236}">
                            <a16:creationId xmlns:a16="http://schemas.microsoft.com/office/drawing/2014/main" id="{93FE0BCD-A557-AE25-26CF-BD17DE982A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Run Inference</a:t>
                        </a:r>
                      </a:p>
                    </p:txBody>
                  </p:sp>
                </p:grpSp>
                <p:grpSp>
                  <p:nvGrpSpPr>
                    <p:cNvPr id="123" name="Group 122">
                      <a:extLst>
                        <a:ext uri="{FF2B5EF4-FFF2-40B4-BE49-F238E27FC236}">
                          <a16:creationId xmlns:a16="http://schemas.microsoft.com/office/drawing/2014/main" id="{F5A10828-7F84-7898-05DD-05F4FBE107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57404" y="3557938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24" name="Rectangle 123">
                        <a:extLst>
                          <a:ext uri="{FF2B5EF4-FFF2-40B4-BE49-F238E27FC236}">
                            <a16:creationId xmlns:a16="http://schemas.microsoft.com/office/drawing/2014/main" id="{4652EF99-64B9-2746-B667-45B62630E9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4.</a:t>
                        </a:r>
                      </a:p>
                    </p:txBody>
                  </p:sp>
                  <p:sp>
                    <p:nvSpPr>
                      <p:cNvPr id="125" name="Rectangle 124">
                        <a:extLst>
                          <a:ext uri="{FF2B5EF4-FFF2-40B4-BE49-F238E27FC236}">
                            <a16:creationId xmlns:a16="http://schemas.microsoft.com/office/drawing/2014/main" id="{BACF443E-4107-1DFD-759D-40A9E1C379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View Scored Table</a:t>
                        </a:r>
                      </a:p>
                    </p:txBody>
                  </p:sp>
                </p:grpSp>
                <p:grpSp>
                  <p:nvGrpSpPr>
                    <p:cNvPr id="138" name="Group 137">
                      <a:extLst>
                        <a:ext uri="{FF2B5EF4-FFF2-40B4-BE49-F238E27FC236}">
                          <a16:creationId xmlns:a16="http://schemas.microsoft.com/office/drawing/2014/main" id="{A1CD1207-C4AF-87DE-BDBC-55488428BD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57404" y="3872985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39" name="Rectangle 138">
                        <a:extLst>
                          <a:ext uri="{FF2B5EF4-FFF2-40B4-BE49-F238E27FC236}">
                            <a16:creationId xmlns:a16="http://schemas.microsoft.com/office/drawing/2014/main" id="{D8D45648-CD91-AF16-EACA-F626C7E530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5.</a:t>
                        </a:r>
                      </a:p>
                    </p:txBody>
                  </p:sp>
                  <p:sp>
                    <p:nvSpPr>
                      <p:cNvPr id="140" name="Rectangle 139">
                        <a:extLst>
                          <a:ext uri="{FF2B5EF4-FFF2-40B4-BE49-F238E27FC236}">
                            <a16:creationId xmlns:a16="http://schemas.microsoft.com/office/drawing/2014/main" id="{D7D2AA3A-8D07-3A07-4EA9-7E8264D98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Generate Emails</a:t>
                        </a:r>
                      </a:p>
                    </p:txBody>
                  </p:sp>
                </p:grpSp>
                <p:grpSp>
                  <p:nvGrpSpPr>
                    <p:cNvPr id="141" name="Group 140">
                      <a:extLst>
                        <a:ext uri="{FF2B5EF4-FFF2-40B4-BE49-F238E27FC236}">
                          <a16:creationId xmlns:a16="http://schemas.microsoft.com/office/drawing/2014/main" id="{FEE9A2FA-EE1E-72C4-E9DF-3D7A8D47C96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57404" y="4183651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42" name="Rectangle 141">
                        <a:extLst>
                          <a:ext uri="{FF2B5EF4-FFF2-40B4-BE49-F238E27FC236}">
                            <a16:creationId xmlns:a16="http://schemas.microsoft.com/office/drawing/2014/main" id="{1AEF49C1-B371-BEF6-007F-2F3B4EE2AE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6.</a:t>
                        </a:r>
                      </a:p>
                    </p:txBody>
                  </p:sp>
                  <p:sp>
                    <p:nvSpPr>
                      <p:cNvPr id="143" name="Rectangle 142">
                        <a:extLst>
                          <a:ext uri="{FF2B5EF4-FFF2-40B4-BE49-F238E27FC236}">
                            <a16:creationId xmlns:a16="http://schemas.microsoft.com/office/drawing/2014/main" id="{3596D4DE-A1BC-5C82-1CDF-8C855CCC21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View Emails Scored Table</a:t>
                        </a:r>
                      </a:p>
                    </p:txBody>
                  </p:sp>
                </p:grpSp>
                <p:grpSp>
                  <p:nvGrpSpPr>
                    <p:cNvPr id="144" name="Group 143">
                      <a:extLst>
                        <a:ext uri="{FF2B5EF4-FFF2-40B4-BE49-F238E27FC236}">
                          <a16:creationId xmlns:a16="http://schemas.microsoft.com/office/drawing/2014/main" id="{DD402712-37B8-DF35-0F7B-4A940582B0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57404" y="4494317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45" name="Rectangle 144">
                        <a:extLst>
                          <a:ext uri="{FF2B5EF4-FFF2-40B4-BE49-F238E27FC236}">
                            <a16:creationId xmlns:a16="http://schemas.microsoft.com/office/drawing/2014/main" id="{9F59C2D8-E29F-80AD-8486-EE2F83EB4E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7.</a:t>
                        </a:r>
                      </a:p>
                    </p:txBody>
                  </p:sp>
                  <p:sp>
                    <p:nvSpPr>
                      <p:cNvPr id="146" name="Rectangle 145">
                        <a:extLst>
                          <a:ext uri="{FF2B5EF4-FFF2-40B4-BE49-F238E27FC236}">
                            <a16:creationId xmlns:a16="http://schemas.microsoft.com/office/drawing/2014/main" id="{6BF44F7C-A7B6-EB06-9638-B050BFB236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Send Emails</a:t>
                        </a:r>
                      </a:p>
                    </p:txBody>
                  </p:sp>
                </p:grpSp>
              </p:grpSp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63A6A72-0FF7-6A21-6574-F32285C78188}"/>
                    </a:ext>
                  </a:extLst>
                </p:cNvPr>
                <p:cNvGrpSpPr/>
                <p:nvPr/>
              </p:nvGrpSpPr>
              <p:grpSpPr>
                <a:xfrm>
                  <a:off x="3868951" y="2780228"/>
                  <a:ext cx="2776091" cy="1497168"/>
                  <a:chOff x="7378810" y="4692825"/>
                  <a:chExt cx="2776091" cy="1497168"/>
                </a:xfrm>
              </p:grpSpPr>
              <p:grpSp>
                <p:nvGrpSpPr>
                  <p:cNvPr id="101" name="Group 100">
                    <a:extLst>
                      <a:ext uri="{FF2B5EF4-FFF2-40B4-BE49-F238E27FC236}">
                        <a16:creationId xmlns:a16="http://schemas.microsoft.com/office/drawing/2014/main" id="{D23D4A93-3264-C629-D3A3-51E5FEE27E88}"/>
                      </a:ext>
                    </a:extLst>
                  </p:cNvPr>
                  <p:cNvGrpSpPr/>
                  <p:nvPr/>
                </p:nvGrpSpPr>
                <p:grpSpPr>
                  <a:xfrm>
                    <a:off x="7378810" y="4692825"/>
                    <a:ext cx="2776091" cy="1497168"/>
                    <a:chOff x="2065822" y="3346383"/>
                    <a:chExt cx="914400" cy="1663830"/>
                  </a:xfrm>
                </p:grpSpPr>
                <p:sp>
                  <p:nvSpPr>
                    <p:cNvPr id="102" name="Rectangle 101">
                      <a:extLst>
                        <a:ext uri="{FF2B5EF4-FFF2-40B4-BE49-F238E27FC236}">
                          <a16:creationId xmlns:a16="http://schemas.microsoft.com/office/drawing/2014/main" id="{28919238-4B6A-5B9C-670E-A9DB0F1983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5822" y="3346383"/>
                      <a:ext cx="914400" cy="400075"/>
                    </a:xfrm>
                    <a:prstGeom prst="rect">
                      <a:avLst/>
                    </a:prstGeom>
                    <a:solidFill>
                      <a:schemeClr val="accent3"/>
                    </a:solidFill>
                    <a:ln>
                      <a:solidFill>
                        <a:schemeClr val="accent3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PH" sz="1600" dirty="0"/>
                        <a:t>View Reports</a:t>
                      </a:r>
                    </a:p>
                  </p:txBody>
                </p:sp>
                <p:sp>
                  <p:nvSpPr>
                    <p:cNvPr id="103" name="Rectangle 102">
                      <a:extLst>
                        <a:ext uri="{FF2B5EF4-FFF2-40B4-BE49-F238E27FC236}">
                          <a16:creationId xmlns:a16="http://schemas.microsoft.com/office/drawing/2014/main" id="{6DA62CFA-5CFB-FA70-EFBD-245D7BE6E2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5822" y="3746458"/>
                      <a:ext cx="914400" cy="1263755"/>
                    </a:xfrm>
                    <a:prstGeom prst="rect">
                      <a:avLst/>
                    </a:prstGeom>
                    <a:pattFill prst="ltDnDiag">
                      <a:fgClr>
                        <a:schemeClr val="accent3"/>
                      </a:fgClr>
                      <a:bgClr>
                        <a:schemeClr val="bg1"/>
                      </a:bgClr>
                    </a:pattFill>
                    <a:ln>
                      <a:solidFill>
                        <a:schemeClr val="accent3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t"/>
                    <a:lstStyle/>
                    <a:p>
                      <a:endParaRPr lang="en-PH" sz="12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52" name="Group 151">
                    <a:extLst>
                      <a:ext uri="{FF2B5EF4-FFF2-40B4-BE49-F238E27FC236}">
                        <a16:creationId xmlns:a16="http://schemas.microsoft.com/office/drawing/2014/main" id="{25629B84-0BC7-95CB-1250-C476472B2F9F}"/>
                      </a:ext>
                    </a:extLst>
                  </p:cNvPr>
                  <p:cNvGrpSpPr/>
                  <p:nvPr/>
                </p:nvGrpSpPr>
                <p:grpSpPr>
                  <a:xfrm>
                    <a:off x="7523185" y="5152745"/>
                    <a:ext cx="2487339" cy="873332"/>
                    <a:chOff x="4185145" y="4078782"/>
                    <a:chExt cx="2311221" cy="873332"/>
                  </a:xfrm>
                </p:grpSpPr>
                <p:grpSp>
                  <p:nvGrpSpPr>
                    <p:cNvPr id="153" name="Group 152">
                      <a:extLst>
                        <a:ext uri="{FF2B5EF4-FFF2-40B4-BE49-F238E27FC236}">
                          <a16:creationId xmlns:a16="http://schemas.microsoft.com/office/drawing/2014/main" id="{A41E85F8-D64E-314D-47BE-420CDDA9D2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5145" y="4078782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63" name="Rectangle 162">
                        <a:extLst>
                          <a:ext uri="{FF2B5EF4-FFF2-40B4-BE49-F238E27FC236}">
                            <a16:creationId xmlns:a16="http://schemas.microsoft.com/office/drawing/2014/main" id="{0B6FFBB4-3F9F-89B8-CCC7-9A2A3E1BBF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1.</a:t>
                        </a:r>
                      </a:p>
                    </p:txBody>
                  </p:sp>
                  <p:sp>
                    <p:nvSpPr>
                      <p:cNvPr id="164" name="Rectangle 163">
                        <a:extLst>
                          <a:ext uri="{FF2B5EF4-FFF2-40B4-BE49-F238E27FC236}">
                            <a16:creationId xmlns:a16="http://schemas.microsoft.com/office/drawing/2014/main" id="{D014C76A-8DD4-031A-B7E3-69489FA5E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View Historical Model Table</a:t>
                        </a:r>
                      </a:p>
                    </p:txBody>
                  </p:sp>
                </p:grpSp>
                <p:grpSp>
                  <p:nvGrpSpPr>
                    <p:cNvPr id="154" name="Group 153">
                      <a:extLst>
                        <a:ext uri="{FF2B5EF4-FFF2-40B4-BE49-F238E27FC236}">
                          <a16:creationId xmlns:a16="http://schemas.microsoft.com/office/drawing/2014/main" id="{6BD4A2A3-9909-F044-BEDB-D65368447B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5145" y="4389448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61" name="Rectangle 160">
                        <a:extLst>
                          <a:ext uri="{FF2B5EF4-FFF2-40B4-BE49-F238E27FC236}">
                            <a16:creationId xmlns:a16="http://schemas.microsoft.com/office/drawing/2014/main" id="{CE026B45-5C0B-F332-9509-596CFE6914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2.</a:t>
                        </a:r>
                      </a:p>
                    </p:txBody>
                  </p:sp>
                  <p:sp>
                    <p:nvSpPr>
                      <p:cNvPr id="162" name="Rectangle 161">
                        <a:extLst>
                          <a:ext uri="{FF2B5EF4-FFF2-40B4-BE49-F238E27FC236}">
                            <a16:creationId xmlns:a16="http://schemas.microsoft.com/office/drawing/2014/main" id="{D86172CF-8D57-1863-C7BE-1642E2153B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View Historical Scoring Table</a:t>
                        </a:r>
                      </a:p>
                    </p:txBody>
                  </p:sp>
                </p:grpSp>
                <p:grpSp>
                  <p:nvGrpSpPr>
                    <p:cNvPr id="155" name="Group 154">
                      <a:extLst>
                        <a:ext uri="{FF2B5EF4-FFF2-40B4-BE49-F238E27FC236}">
                          <a16:creationId xmlns:a16="http://schemas.microsoft.com/office/drawing/2014/main" id="{A5741C14-8B15-760B-C310-947F7581F65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5145" y="4700114"/>
                      <a:ext cx="2311221" cy="252000"/>
                      <a:chOff x="2488908" y="1128240"/>
                      <a:chExt cx="2311221" cy="252000"/>
                    </a:xfrm>
                  </p:grpSpPr>
                  <p:sp>
                    <p:nvSpPr>
                      <p:cNvPr id="159" name="Rectangle 158">
                        <a:extLst>
                          <a:ext uri="{FF2B5EF4-FFF2-40B4-BE49-F238E27FC236}">
                            <a16:creationId xmlns:a16="http://schemas.microsoft.com/office/drawing/2014/main" id="{94B584B8-E7FF-5CDF-88FC-9A8B26E197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88908" y="1128240"/>
                        <a:ext cx="313903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PH" sz="1200" dirty="0"/>
                          <a:t>3.</a:t>
                        </a:r>
                      </a:p>
                    </p:txBody>
                  </p:sp>
                  <p:sp>
                    <p:nvSpPr>
                      <p:cNvPr id="160" name="Rectangle 159">
                        <a:extLst>
                          <a:ext uri="{FF2B5EF4-FFF2-40B4-BE49-F238E27FC236}">
                            <a16:creationId xmlns:a16="http://schemas.microsoft.com/office/drawing/2014/main" id="{1CE76AC4-9D1E-A2DE-9918-65A88F061D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2810" y="1128240"/>
                        <a:ext cx="1997319" cy="252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r>
                          <a:rPr lang="en-PH" sz="1200" dirty="0"/>
                          <a:t>Train Historical Emails Table</a:t>
                        </a:r>
                      </a:p>
                    </p:txBody>
                  </p:sp>
                </p:grpSp>
              </p:grpSp>
            </p:grpSp>
          </p:grpSp>
        </p:grpSp>
        <p:cxnSp>
          <p:nvCxnSpPr>
            <p:cNvPr id="180" name="Connector: Elbow 179">
              <a:extLst>
                <a:ext uri="{FF2B5EF4-FFF2-40B4-BE49-F238E27FC236}">
                  <a16:creationId xmlns:a16="http://schemas.microsoft.com/office/drawing/2014/main" id="{27814549-9A8E-4051-BA4A-206CAE47B999}"/>
                </a:ext>
              </a:extLst>
            </p:cNvPr>
            <p:cNvCxnSpPr>
              <a:cxnSpLocks/>
              <a:stCxn id="117" idx="3"/>
              <a:endCxn id="199" idx="1"/>
            </p:cNvCxnSpPr>
            <p:nvPr/>
          </p:nvCxnSpPr>
          <p:spPr>
            <a:xfrm>
              <a:off x="7788777" y="3061560"/>
              <a:ext cx="1497679" cy="2281732"/>
            </a:xfrm>
            <a:prstGeom prst="bentConnector3">
              <a:avLst>
                <a:gd name="adj1" fmla="val 26787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1" name="Connector: Elbow 180">
              <a:extLst>
                <a:ext uri="{FF2B5EF4-FFF2-40B4-BE49-F238E27FC236}">
                  <a16:creationId xmlns:a16="http://schemas.microsoft.com/office/drawing/2014/main" id="{A040CDE6-880D-8B3E-C350-593DB35331AB}"/>
                </a:ext>
              </a:extLst>
            </p:cNvPr>
            <p:cNvCxnSpPr>
              <a:cxnSpLocks/>
              <a:stCxn id="128" idx="1"/>
              <a:endCxn id="199" idx="1"/>
            </p:cNvCxnSpPr>
            <p:nvPr/>
          </p:nvCxnSpPr>
          <p:spPr>
            <a:xfrm rot="10800000" flipH="1" flipV="1">
              <a:off x="8413520" y="2444236"/>
              <a:ext cx="872935" cy="2899056"/>
            </a:xfrm>
            <a:prstGeom prst="bentConnector3">
              <a:avLst>
                <a:gd name="adj1" fmla="val -26188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4" name="Connector: Elbow 183">
              <a:extLst>
                <a:ext uri="{FF2B5EF4-FFF2-40B4-BE49-F238E27FC236}">
                  <a16:creationId xmlns:a16="http://schemas.microsoft.com/office/drawing/2014/main" id="{0D133342-0E91-7578-5F1E-6184C7CD6409}"/>
                </a:ext>
              </a:extLst>
            </p:cNvPr>
            <p:cNvCxnSpPr>
              <a:cxnSpLocks/>
              <a:stCxn id="139" idx="1"/>
              <a:endCxn id="199" idx="1"/>
            </p:cNvCxnSpPr>
            <p:nvPr/>
          </p:nvCxnSpPr>
          <p:spPr>
            <a:xfrm rot="10800000" flipH="1" flipV="1">
              <a:off x="8413520" y="3374056"/>
              <a:ext cx="872935" cy="1969235"/>
            </a:xfrm>
            <a:prstGeom prst="bentConnector3">
              <a:avLst>
                <a:gd name="adj1" fmla="val -26188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A98CD342-2C69-3386-2070-50B93621C781}"/>
                </a:ext>
              </a:extLst>
            </p:cNvPr>
            <p:cNvGrpSpPr/>
            <p:nvPr/>
          </p:nvGrpSpPr>
          <p:grpSpPr>
            <a:xfrm>
              <a:off x="9151777" y="4389448"/>
              <a:ext cx="994011" cy="1056658"/>
              <a:chOff x="1631131" y="5628106"/>
              <a:chExt cx="994011" cy="1056658"/>
            </a:xfrm>
          </p:grpSpPr>
          <p:pic>
            <p:nvPicPr>
              <p:cNvPr id="198" name="Graphic 197" descr="Database with solid fill">
                <a:extLst>
                  <a:ext uri="{FF2B5EF4-FFF2-40B4-BE49-F238E27FC236}">
                    <a16:creationId xmlns:a16="http://schemas.microsoft.com/office/drawing/2014/main" id="{5BAC84B1-7A06-8DA6-0A6B-2B30D6144D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631131" y="5628106"/>
                <a:ext cx="994011" cy="914400"/>
              </a:xfrm>
              <a:prstGeom prst="rect">
                <a:avLst/>
              </a:prstGeom>
            </p:spPr>
          </p:pic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B87F00B0-8C31-35C1-3802-D9D612E8E58F}"/>
                  </a:ext>
                </a:extLst>
              </p:cNvPr>
              <p:cNvSpPr txBox="1"/>
              <p:nvPr/>
            </p:nvSpPr>
            <p:spPr>
              <a:xfrm>
                <a:off x="1765810" y="6479135"/>
                <a:ext cx="724651" cy="20562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square" lIns="18000" tIns="18000" rIns="18000" bIns="18000" rtlCol="0">
                <a:spAutoFit/>
              </a:bodyPr>
              <a:lstStyle/>
              <a:p>
                <a:pPr algn="ctr"/>
                <a:r>
                  <a:rPr lang="en-PH" sz="1100" dirty="0">
                    <a:solidFill>
                      <a:schemeClr val="bg1"/>
                    </a:solidFill>
                  </a:rPr>
                  <a:t>Database</a:t>
                </a:r>
              </a:p>
            </p:txBody>
          </p:sp>
        </p:grpSp>
      </p:grpSp>
      <p:cxnSp>
        <p:nvCxnSpPr>
          <p:cNvPr id="207" name="Connector: Elbow 206">
            <a:extLst>
              <a:ext uri="{FF2B5EF4-FFF2-40B4-BE49-F238E27FC236}">
                <a16:creationId xmlns:a16="http://schemas.microsoft.com/office/drawing/2014/main" id="{7A40BC8B-CE6A-A9A7-DDA3-E487901F4B07}"/>
              </a:ext>
            </a:extLst>
          </p:cNvPr>
          <p:cNvCxnSpPr>
            <a:stCxn id="199" idx="2"/>
            <a:endCxn id="164" idx="3"/>
          </p:cNvCxnSpPr>
          <p:nvPr/>
        </p:nvCxnSpPr>
        <p:spPr>
          <a:xfrm rot="5400000" flipH="1">
            <a:off x="6703223" y="4013083"/>
            <a:ext cx="1326011" cy="1860006"/>
          </a:xfrm>
          <a:prstGeom prst="bentConnector4">
            <a:avLst>
              <a:gd name="adj1" fmla="val -17240"/>
              <a:gd name="adj2" fmla="val 863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640030CE-25D3-F21A-7EE7-0ACDD89863C5}"/>
              </a:ext>
            </a:extLst>
          </p:cNvPr>
          <p:cNvCxnSpPr>
            <a:cxnSpLocks/>
            <a:stCxn id="199" idx="2"/>
            <a:endCxn id="162" idx="3"/>
          </p:cNvCxnSpPr>
          <p:nvPr/>
        </p:nvCxnSpPr>
        <p:spPr>
          <a:xfrm rot="5400000" flipH="1">
            <a:off x="6858556" y="4168416"/>
            <a:ext cx="1015345" cy="1860006"/>
          </a:xfrm>
          <a:prstGeom prst="bentConnector4">
            <a:avLst>
              <a:gd name="adj1" fmla="val -22515"/>
              <a:gd name="adj2" fmla="val 865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4D165DD0-ECF1-83B8-67A9-02F306991427}"/>
              </a:ext>
            </a:extLst>
          </p:cNvPr>
          <p:cNvCxnSpPr>
            <a:cxnSpLocks/>
            <a:stCxn id="199" idx="2"/>
            <a:endCxn id="160" idx="3"/>
          </p:cNvCxnSpPr>
          <p:nvPr/>
        </p:nvCxnSpPr>
        <p:spPr>
          <a:xfrm rot="5400000" flipH="1">
            <a:off x="7013889" y="4323749"/>
            <a:ext cx="704679" cy="1860006"/>
          </a:xfrm>
          <a:prstGeom prst="bentConnector4">
            <a:avLst>
              <a:gd name="adj1" fmla="val -32440"/>
              <a:gd name="adj2" fmla="val 862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28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4CC02-39A7-AFE1-8B8F-0A7326D8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769670-7EBC-5541-4FC2-208F4E73941A}"/>
              </a:ext>
            </a:extLst>
          </p:cNvPr>
          <p:cNvGrpSpPr/>
          <p:nvPr/>
        </p:nvGrpSpPr>
        <p:grpSpPr>
          <a:xfrm>
            <a:off x="3676649" y="152400"/>
            <a:ext cx="8239125" cy="6505576"/>
            <a:chOff x="3676649" y="152400"/>
            <a:chExt cx="8239125" cy="650557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9755CB7-A587-76EB-0BDF-A5E2C001E611}"/>
                </a:ext>
              </a:extLst>
            </p:cNvPr>
            <p:cNvSpPr/>
            <p:nvPr/>
          </p:nvSpPr>
          <p:spPr>
            <a:xfrm>
              <a:off x="3676650" y="152400"/>
              <a:ext cx="8239124" cy="47271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 err="1"/>
                <a:t>modelling_class</a:t>
              </a:r>
              <a:endParaRPr lang="en-PH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2012E9-64C9-1F28-9F75-180F80031C04}"/>
                </a:ext>
              </a:extLst>
            </p:cNvPr>
            <p:cNvSpPr/>
            <p:nvPr/>
          </p:nvSpPr>
          <p:spPr>
            <a:xfrm>
              <a:off x="3676649" y="625110"/>
              <a:ext cx="8239125" cy="6032866"/>
            </a:xfrm>
            <a:prstGeom prst="rect">
              <a:avLst/>
            </a:prstGeom>
            <a:pattFill prst="ltVert">
              <a:fgClr>
                <a:schemeClr val="accent5"/>
              </a:fgClr>
              <a:bgClr>
                <a:schemeClr val="bg1"/>
              </a:bgClr>
            </a:patt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FDEC91E-8FB3-AADD-B579-3FA0E46C83FE}"/>
              </a:ext>
            </a:extLst>
          </p:cNvPr>
          <p:cNvGrpSpPr/>
          <p:nvPr/>
        </p:nvGrpSpPr>
        <p:grpSpPr>
          <a:xfrm>
            <a:off x="4058405" y="742238"/>
            <a:ext cx="3661230" cy="1598997"/>
            <a:chOff x="4073070" y="1174683"/>
            <a:chExt cx="2880000" cy="159899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2530A18-241A-9464-DD06-14B0D570ED70}"/>
                </a:ext>
              </a:extLst>
            </p:cNvPr>
            <p:cNvSpPr/>
            <p:nvPr/>
          </p:nvSpPr>
          <p:spPr>
            <a:xfrm>
              <a:off x="4073070" y="1174683"/>
              <a:ext cx="2880000" cy="36000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600" dirty="0"/>
                <a:t>__</a:t>
              </a:r>
              <a:r>
                <a:rPr lang="en-PH" sz="1600" dirty="0" err="1"/>
                <a:t>init</a:t>
              </a:r>
              <a:r>
                <a:rPr lang="en-PH" sz="1600" dirty="0"/>
                <a:t>__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4D2B59D-D8A2-D822-1CC1-9D1D81D1B93B}"/>
                </a:ext>
              </a:extLst>
            </p:cNvPr>
            <p:cNvSpPr/>
            <p:nvPr/>
          </p:nvSpPr>
          <p:spPr>
            <a:xfrm>
              <a:off x="4073070" y="1534683"/>
              <a:ext cx="2880000" cy="1238997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342900" indent="-342900">
                <a:buAutoNum type="arabicPeriod"/>
              </a:pPr>
              <a:r>
                <a:rPr lang="en-PH" sz="1200" i="1" dirty="0">
                  <a:solidFill>
                    <a:schemeClr val="tx1"/>
                  </a:solidFill>
                </a:rPr>
                <a:t>Accuracy</a:t>
              </a:r>
            </a:p>
            <a:p>
              <a:pPr marL="342900" indent="-342900">
                <a:buAutoNum type="arabicPeriod"/>
              </a:pPr>
              <a:r>
                <a:rPr lang="en-PH" sz="1200" i="1" dirty="0">
                  <a:solidFill>
                    <a:schemeClr val="tx1"/>
                  </a:solidFill>
                </a:rPr>
                <a:t>Precision</a:t>
              </a:r>
            </a:p>
            <a:p>
              <a:pPr marL="342900" indent="-342900">
                <a:buAutoNum type="arabicPeriod"/>
              </a:pPr>
              <a:r>
                <a:rPr lang="en-PH" sz="1200" i="1" dirty="0">
                  <a:solidFill>
                    <a:schemeClr val="tx1"/>
                  </a:solidFill>
                </a:rPr>
                <a:t>Recall</a:t>
              </a:r>
            </a:p>
            <a:p>
              <a:pPr marL="342900" indent="-342900">
                <a:buAutoNum type="arabicPeriod"/>
              </a:pPr>
              <a:r>
                <a:rPr lang="en-PH" sz="1200" i="1" dirty="0">
                  <a:solidFill>
                    <a:schemeClr val="tx1"/>
                  </a:solidFill>
                </a:rPr>
                <a:t>F1</a:t>
              </a:r>
            </a:p>
            <a:p>
              <a:pPr marL="342900" indent="-342900">
                <a:buAutoNum type="arabicPeriod"/>
              </a:pPr>
              <a:r>
                <a:rPr lang="en-PH" sz="1200" i="1" dirty="0">
                  <a:solidFill>
                    <a:schemeClr val="tx1"/>
                  </a:solidFill>
                </a:rPr>
                <a:t>Confusion Matrix</a:t>
              </a:r>
            </a:p>
            <a:p>
              <a:pPr marL="342900" indent="-342900">
                <a:buAutoNum type="arabicPeriod"/>
              </a:pPr>
              <a:r>
                <a:rPr lang="en-PH" sz="1200" i="1" dirty="0">
                  <a:solidFill>
                    <a:schemeClr val="tx1"/>
                  </a:solidFill>
                </a:rPr>
                <a:t>Path of Inference Pipeline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9D57DB4-9DD5-0C79-48D8-C10A53AB187E}"/>
              </a:ext>
            </a:extLst>
          </p:cNvPr>
          <p:cNvGrpSpPr/>
          <p:nvPr/>
        </p:nvGrpSpPr>
        <p:grpSpPr>
          <a:xfrm>
            <a:off x="7936410" y="735186"/>
            <a:ext cx="3542895" cy="2714372"/>
            <a:chOff x="2065822" y="3346383"/>
            <a:chExt cx="914400" cy="301653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82F9130-4515-71DC-EDBF-8B2B4180649F}"/>
                </a:ext>
              </a:extLst>
            </p:cNvPr>
            <p:cNvSpPr/>
            <p:nvPr/>
          </p:nvSpPr>
          <p:spPr>
            <a:xfrm>
              <a:off x="2065822" y="3346383"/>
              <a:ext cx="914400" cy="40007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600" dirty="0" err="1"/>
                <a:t>get_predictions</a:t>
              </a:r>
              <a:r>
                <a:rPr lang="en-PH" sz="1600" dirty="0"/>
                <a:t>()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E780ECA-B67B-8180-5C7C-36651180B1D6}"/>
                </a:ext>
              </a:extLst>
            </p:cNvPr>
            <p:cNvSpPr/>
            <p:nvPr/>
          </p:nvSpPr>
          <p:spPr>
            <a:xfrm>
              <a:off x="2065822" y="3746458"/>
              <a:ext cx="914400" cy="261645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PH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0A6B507-E2CC-1B53-D0BD-05683C8A0776}"/>
              </a:ext>
            </a:extLst>
          </p:cNvPr>
          <p:cNvGrpSpPr/>
          <p:nvPr/>
        </p:nvGrpSpPr>
        <p:grpSpPr>
          <a:xfrm>
            <a:off x="4103853" y="3609580"/>
            <a:ext cx="7375451" cy="2867418"/>
            <a:chOff x="2065822" y="3063036"/>
            <a:chExt cx="914400" cy="228533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B080CFF-AD88-9B6D-D476-B8E733A50B3A}"/>
                </a:ext>
              </a:extLst>
            </p:cNvPr>
            <p:cNvSpPr/>
            <p:nvPr/>
          </p:nvSpPr>
          <p:spPr>
            <a:xfrm>
              <a:off x="2065822" y="3063036"/>
              <a:ext cx="914400" cy="28692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600" dirty="0" err="1"/>
                <a:t>run_training</a:t>
              </a:r>
              <a:r>
                <a:rPr lang="en-PH" sz="1600" dirty="0"/>
                <a:t>()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D277564-7D2D-4FA4-B8AD-7B710A7F9987}"/>
                </a:ext>
              </a:extLst>
            </p:cNvPr>
            <p:cNvSpPr/>
            <p:nvPr/>
          </p:nvSpPr>
          <p:spPr>
            <a:xfrm>
              <a:off x="2065822" y="3362858"/>
              <a:ext cx="914400" cy="1985509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PH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A031B3-E8F7-D0D9-B376-3A8DD1D79483}"/>
              </a:ext>
            </a:extLst>
          </p:cNvPr>
          <p:cNvGrpSpPr/>
          <p:nvPr/>
        </p:nvGrpSpPr>
        <p:grpSpPr>
          <a:xfrm>
            <a:off x="619377" y="4640478"/>
            <a:ext cx="1965960" cy="1941472"/>
            <a:chOff x="3064042" y="481263"/>
            <a:chExt cx="1965960" cy="267648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B07107A-121A-FFE6-B2DD-6E70EA0B320F}"/>
                </a:ext>
              </a:extLst>
            </p:cNvPr>
            <p:cNvGrpSpPr/>
            <p:nvPr/>
          </p:nvGrpSpPr>
          <p:grpSpPr>
            <a:xfrm>
              <a:off x="3064042" y="481263"/>
              <a:ext cx="914400" cy="1274400"/>
              <a:chOff x="3064042" y="481263"/>
              <a:chExt cx="914400" cy="12744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BCE76E8-13AF-CB8A-88D8-B21D6AFBA455}"/>
                  </a:ext>
                </a:extLst>
              </p:cNvPr>
              <p:cNvSpPr/>
              <p:nvPr/>
            </p:nvSpPr>
            <p:spPr>
              <a:xfrm>
                <a:off x="3064042" y="481263"/>
                <a:ext cx="914400" cy="3600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050" dirty="0"/>
                  <a:t>Class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E8F6D32-BB17-B11C-4519-769A5EF3B0B3}"/>
                  </a:ext>
                </a:extLst>
              </p:cNvPr>
              <p:cNvSpPr/>
              <p:nvPr/>
            </p:nvSpPr>
            <p:spPr>
              <a:xfrm>
                <a:off x="3064042" y="841263"/>
                <a:ext cx="914400" cy="914400"/>
              </a:xfrm>
              <a:prstGeom prst="rect">
                <a:avLst/>
              </a:prstGeom>
              <a:pattFill prst="ltVert">
                <a:fgClr>
                  <a:schemeClr val="accent5"/>
                </a:fgClr>
                <a:bgClr>
                  <a:schemeClr val="bg1"/>
                </a:bgClr>
              </a:patt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2A660B0-6CC9-D556-FDB6-4F501314BC06}"/>
                </a:ext>
              </a:extLst>
            </p:cNvPr>
            <p:cNvGrpSpPr/>
            <p:nvPr/>
          </p:nvGrpSpPr>
          <p:grpSpPr>
            <a:xfrm>
              <a:off x="4115602" y="481263"/>
              <a:ext cx="914400" cy="1274400"/>
              <a:chOff x="3064042" y="481263"/>
              <a:chExt cx="914400" cy="12744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34E0CE5-A6FE-FE9A-41B9-F1D1A378DB42}"/>
                  </a:ext>
                </a:extLst>
              </p:cNvPr>
              <p:cNvSpPr/>
              <p:nvPr/>
            </p:nvSpPr>
            <p:spPr>
              <a:xfrm>
                <a:off x="3064042" y="481263"/>
                <a:ext cx="914400" cy="3600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050" dirty="0"/>
                  <a:t>Function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992FC63-5D4B-44F2-66F8-36AC4A1EA1EC}"/>
                  </a:ext>
                </a:extLst>
              </p:cNvPr>
              <p:cNvSpPr/>
              <p:nvPr/>
            </p:nvSpPr>
            <p:spPr>
              <a:xfrm>
                <a:off x="3064042" y="841263"/>
                <a:ext cx="914400" cy="914400"/>
              </a:xfrm>
              <a:prstGeom prst="rect">
                <a:avLst/>
              </a:prstGeom>
              <a:pattFill prst="ltDnDiag">
                <a:fgClr>
                  <a:schemeClr val="accent3"/>
                </a:fgClr>
                <a:bgClr>
                  <a:schemeClr val="bg1"/>
                </a:bgClr>
              </a:patt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DA6AEC-2760-59DC-426D-BC516ED0D701}"/>
                </a:ext>
              </a:extLst>
            </p:cNvPr>
            <p:cNvGrpSpPr/>
            <p:nvPr/>
          </p:nvGrpSpPr>
          <p:grpSpPr>
            <a:xfrm>
              <a:off x="4115602" y="1883343"/>
              <a:ext cx="914400" cy="1274400"/>
              <a:chOff x="3064042" y="481263"/>
              <a:chExt cx="914400" cy="12744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2A615B0-F847-F28B-3E63-41FFC16D0304}"/>
                  </a:ext>
                </a:extLst>
              </p:cNvPr>
              <p:cNvSpPr/>
              <p:nvPr/>
            </p:nvSpPr>
            <p:spPr>
              <a:xfrm>
                <a:off x="3064042" y="481263"/>
                <a:ext cx="914400" cy="360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050" dirty="0"/>
                  <a:t>Transformer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208640E-81B7-C4D6-F1DE-81C8BFA7F792}"/>
                  </a:ext>
                </a:extLst>
              </p:cNvPr>
              <p:cNvSpPr/>
              <p:nvPr/>
            </p:nvSpPr>
            <p:spPr>
              <a:xfrm>
                <a:off x="3064042" y="841263"/>
                <a:ext cx="914400" cy="914400"/>
              </a:xfrm>
              <a:prstGeom prst="rect">
                <a:avLst/>
              </a:prstGeom>
              <a:pattFill prst="divot">
                <a:fgClr>
                  <a:schemeClr val="accent2"/>
                </a:fgClr>
                <a:bgClr>
                  <a:schemeClr val="bg1"/>
                </a:bgClr>
              </a:patt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F87BAD8-053A-0784-7B21-AC48DD8E731D}"/>
                </a:ext>
              </a:extLst>
            </p:cNvPr>
            <p:cNvGrpSpPr/>
            <p:nvPr/>
          </p:nvGrpSpPr>
          <p:grpSpPr>
            <a:xfrm>
              <a:off x="3064042" y="1883343"/>
              <a:ext cx="914400" cy="1274400"/>
              <a:chOff x="3064042" y="481263"/>
              <a:chExt cx="914400" cy="12744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19D377-DA35-A35F-6D31-96C1E14E3FF5}"/>
                  </a:ext>
                </a:extLst>
              </p:cNvPr>
              <p:cNvSpPr/>
              <p:nvPr/>
            </p:nvSpPr>
            <p:spPr>
              <a:xfrm>
                <a:off x="3064042" y="481263"/>
                <a:ext cx="914400" cy="36000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050" dirty="0"/>
                  <a:t>Pipeline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4299D22-12F5-8D21-E08F-6274E8DF9192}"/>
                  </a:ext>
                </a:extLst>
              </p:cNvPr>
              <p:cNvSpPr/>
              <p:nvPr/>
            </p:nvSpPr>
            <p:spPr>
              <a:xfrm>
                <a:off x="3064042" y="841263"/>
                <a:ext cx="914400" cy="914400"/>
              </a:xfrm>
              <a:prstGeom prst="rect">
                <a:avLst/>
              </a:prstGeom>
              <a:pattFill prst="divot">
                <a:fgClr>
                  <a:schemeClr val="accent1"/>
                </a:fgClr>
                <a:bgClr>
                  <a:schemeClr val="bg1"/>
                </a:bgClr>
              </a:patt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133D319-1790-B9E6-D95D-3C18283A5674}"/>
              </a:ext>
            </a:extLst>
          </p:cNvPr>
          <p:cNvGrpSpPr/>
          <p:nvPr/>
        </p:nvGrpSpPr>
        <p:grpSpPr>
          <a:xfrm>
            <a:off x="4250177" y="4467935"/>
            <a:ext cx="4313254" cy="1857166"/>
            <a:chOff x="1456222" y="1218543"/>
            <a:chExt cx="4807418" cy="185716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B099661-5F88-8C02-64BD-7AD9E3A6EF7F}"/>
                </a:ext>
              </a:extLst>
            </p:cNvPr>
            <p:cNvSpPr/>
            <p:nvPr/>
          </p:nvSpPr>
          <p:spPr>
            <a:xfrm>
              <a:off x="1456222" y="1218543"/>
              <a:ext cx="4807418" cy="360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Data Prep Pipeline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2716F42-7856-3F46-8A43-F18211D45C8A}"/>
                </a:ext>
              </a:extLst>
            </p:cNvPr>
            <p:cNvSpPr/>
            <p:nvPr/>
          </p:nvSpPr>
          <p:spPr>
            <a:xfrm>
              <a:off x="1456222" y="1578542"/>
              <a:ext cx="4807418" cy="1497167"/>
            </a:xfrm>
            <a:prstGeom prst="rect">
              <a:avLst/>
            </a:prstGeom>
            <a:pattFill prst="divot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4B8172B-67B4-4626-6EAF-E66D8D997FBE}"/>
                </a:ext>
              </a:extLst>
            </p:cNvPr>
            <p:cNvGrpSpPr/>
            <p:nvPr/>
          </p:nvGrpSpPr>
          <p:grpSpPr>
            <a:xfrm>
              <a:off x="1814676" y="1688948"/>
              <a:ext cx="4090509" cy="1261311"/>
              <a:chOff x="1627094" y="4044220"/>
              <a:chExt cx="4090509" cy="1261311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6285F3B-EE53-EA9B-F7B8-9A76FBD4B8BD}"/>
                  </a:ext>
                </a:extLst>
              </p:cNvPr>
              <p:cNvGrpSpPr/>
              <p:nvPr/>
            </p:nvGrpSpPr>
            <p:grpSpPr>
              <a:xfrm>
                <a:off x="1627094" y="4044220"/>
                <a:ext cx="1980000" cy="252000"/>
                <a:chOff x="1627094" y="4044220"/>
                <a:chExt cx="1980000" cy="252000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CDA2A80-33C9-8B51-20D2-315CC70514D6}"/>
                    </a:ext>
                  </a:extLst>
                </p:cNvPr>
                <p:cNvSpPr/>
                <p:nvPr/>
              </p:nvSpPr>
              <p:spPr>
                <a:xfrm>
                  <a:off x="1627094" y="4044220"/>
                  <a:ext cx="5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PH" sz="1200" dirty="0"/>
                    <a:t>1.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35DFC82-E2FF-439E-6F9F-014F37149861}"/>
                    </a:ext>
                  </a:extLst>
                </p:cNvPr>
                <p:cNvSpPr/>
                <p:nvPr/>
              </p:nvSpPr>
              <p:spPr>
                <a:xfrm>
                  <a:off x="2167094" y="4044220"/>
                  <a:ext cx="14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PH" sz="1200" dirty="0"/>
                    <a:t>Order</a:t>
                  </a: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13A54B7-46BA-7FB2-389D-BE39626F6DB5}"/>
                  </a:ext>
                </a:extLst>
              </p:cNvPr>
              <p:cNvGrpSpPr/>
              <p:nvPr/>
            </p:nvGrpSpPr>
            <p:grpSpPr>
              <a:xfrm>
                <a:off x="1627094" y="4380657"/>
                <a:ext cx="1980000" cy="252000"/>
                <a:chOff x="1627094" y="4044220"/>
                <a:chExt cx="1980000" cy="252000"/>
              </a:xfrm>
            </p:grpSpPr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0FC79AA5-EB16-0297-6781-92A7A1DD5DA1}"/>
                    </a:ext>
                  </a:extLst>
                </p:cNvPr>
                <p:cNvSpPr/>
                <p:nvPr/>
              </p:nvSpPr>
              <p:spPr>
                <a:xfrm>
                  <a:off x="1627094" y="4044220"/>
                  <a:ext cx="5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PH" sz="1200" dirty="0"/>
                    <a:t>2.</a:t>
                  </a: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0B15585-B6F7-B476-F888-9BA713C20560}"/>
                    </a:ext>
                  </a:extLst>
                </p:cNvPr>
                <p:cNvSpPr/>
                <p:nvPr/>
              </p:nvSpPr>
              <p:spPr>
                <a:xfrm>
                  <a:off x="2167094" y="4044220"/>
                  <a:ext cx="14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PH" sz="1200" dirty="0"/>
                    <a:t>Disguised Null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EA35E28D-A726-1452-8C3C-559FE8A3EF41}"/>
                  </a:ext>
                </a:extLst>
              </p:cNvPr>
              <p:cNvGrpSpPr/>
              <p:nvPr/>
            </p:nvGrpSpPr>
            <p:grpSpPr>
              <a:xfrm>
                <a:off x="1627094" y="4717094"/>
                <a:ext cx="1980000" cy="252000"/>
                <a:chOff x="1627094" y="4044220"/>
                <a:chExt cx="1980000" cy="252000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D6261A4C-BFDE-FF4B-D036-7037A27BAA97}"/>
                    </a:ext>
                  </a:extLst>
                </p:cNvPr>
                <p:cNvSpPr/>
                <p:nvPr/>
              </p:nvSpPr>
              <p:spPr>
                <a:xfrm>
                  <a:off x="1627094" y="4044220"/>
                  <a:ext cx="5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PH" sz="1200" dirty="0"/>
                    <a:t>3.</a:t>
                  </a: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EF496ED-2689-0EEB-E97B-FDEFC8E0F022}"/>
                    </a:ext>
                  </a:extLst>
                </p:cNvPr>
                <p:cNvSpPr/>
                <p:nvPr/>
              </p:nvSpPr>
              <p:spPr>
                <a:xfrm>
                  <a:off x="2167094" y="4044220"/>
                  <a:ext cx="14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PH" sz="1200" dirty="0"/>
                    <a:t>Coerce Type</a:t>
                  </a: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BA1A532-CFB7-76FB-DF4B-5860E93B73ED}"/>
                  </a:ext>
                </a:extLst>
              </p:cNvPr>
              <p:cNvGrpSpPr/>
              <p:nvPr/>
            </p:nvGrpSpPr>
            <p:grpSpPr>
              <a:xfrm>
                <a:off x="1627094" y="5053531"/>
                <a:ext cx="1980000" cy="252000"/>
                <a:chOff x="1627094" y="4044220"/>
                <a:chExt cx="1980000" cy="252000"/>
              </a:xfrm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ADD14E66-EFF5-24C1-4D92-921ABCBDBF29}"/>
                    </a:ext>
                  </a:extLst>
                </p:cNvPr>
                <p:cNvSpPr/>
                <p:nvPr/>
              </p:nvSpPr>
              <p:spPr>
                <a:xfrm>
                  <a:off x="1627094" y="4044220"/>
                  <a:ext cx="5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PH" sz="1200" dirty="0"/>
                    <a:t>4.</a:t>
                  </a: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67A4E273-72A3-9B3B-037D-25BA0B4EEC6D}"/>
                    </a:ext>
                  </a:extLst>
                </p:cNvPr>
                <p:cNvSpPr/>
                <p:nvPr/>
              </p:nvSpPr>
              <p:spPr>
                <a:xfrm>
                  <a:off x="2167094" y="4044220"/>
                  <a:ext cx="14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PH" sz="1200" dirty="0"/>
                    <a:t>Imputer</a:t>
                  </a: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59D6A73C-5DB5-9CCF-53A3-54FB034D7D8B}"/>
                  </a:ext>
                </a:extLst>
              </p:cNvPr>
              <p:cNvGrpSpPr/>
              <p:nvPr/>
            </p:nvGrpSpPr>
            <p:grpSpPr>
              <a:xfrm>
                <a:off x="3737603" y="4044220"/>
                <a:ext cx="1980000" cy="252000"/>
                <a:chOff x="1627094" y="4044220"/>
                <a:chExt cx="1980000" cy="252000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3954F18-539E-76D0-FD73-4C088CE3868F}"/>
                    </a:ext>
                  </a:extLst>
                </p:cNvPr>
                <p:cNvSpPr/>
                <p:nvPr/>
              </p:nvSpPr>
              <p:spPr>
                <a:xfrm>
                  <a:off x="1627094" y="4044220"/>
                  <a:ext cx="5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PH" sz="1200" dirty="0"/>
                    <a:t>5.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E1FF0C1-2241-6612-E443-A826663D0A1C}"/>
                    </a:ext>
                  </a:extLst>
                </p:cNvPr>
                <p:cNvSpPr/>
                <p:nvPr/>
              </p:nvSpPr>
              <p:spPr>
                <a:xfrm>
                  <a:off x="2167094" y="4044220"/>
                  <a:ext cx="14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PH" sz="1200" dirty="0"/>
                    <a:t>Encoder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F2B83F7-B676-73D5-2C05-BFDEA2BA7E1F}"/>
                  </a:ext>
                </a:extLst>
              </p:cNvPr>
              <p:cNvGrpSpPr/>
              <p:nvPr/>
            </p:nvGrpSpPr>
            <p:grpSpPr>
              <a:xfrm>
                <a:off x="3737603" y="4380657"/>
                <a:ext cx="1980000" cy="252000"/>
                <a:chOff x="1627094" y="4044220"/>
                <a:chExt cx="1980000" cy="252000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17B75C38-D5FC-0158-E4B0-959D6818DD56}"/>
                    </a:ext>
                  </a:extLst>
                </p:cNvPr>
                <p:cNvSpPr/>
                <p:nvPr/>
              </p:nvSpPr>
              <p:spPr>
                <a:xfrm>
                  <a:off x="1627094" y="4044220"/>
                  <a:ext cx="5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PH" sz="1200" dirty="0"/>
                    <a:t>6.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2E4CF7B7-413D-12A8-5177-9FFFE1B7D3E3}"/>
                    </a:ext>
                  </a:extLst>
                </p:cNvPr>
                <p:cNvSpPr/>
                <p:nvPr/>
              </p:nvSpPr>
              <p:spPr>
                <a:xfrm>
                  <a:off x="2167094" y="4044220"/>
                  <a:ext cx="14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PH" sz="1200" dirty="0"/>
                    <a:t>Age Tenure R.</a:t>
                  </a: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EBF77CAD-2C52-98E8-B719-01D7D2DFF530}"/>
                  </a:ext>
                </a:extLst>
              </p:cNvPr>
              <p:cNvGrpSpPr/>
              <p:nvPr/>
            </p:nvGrpSpPr>
            <p:grpSpPr>
              <a:xfrm>
                <a:off x="3737603" y="4717094"/>
                <a:ext cx="1980000" cy="252000"/>
                <a:chOff x="1627094" y="4044220"/>
                <a:chExt cx="1980000" cy="252000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9E355B4-1441-BBF3-DDDA-878BE325F1D4}"/>
                    </a:ext>
                  </a:extLst>
                </p:cNvPr>
                <p:cNvSpPr/>
                <p:nvPr/>
              </p:nvSpPr>
              <p:spPr>
                <a:xfrm>
                  <a:off x="1627094" y="4044220"/>
                  <a:ext cx="5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PH" sz="1200" dirty="0"/>
                    <a:t>7.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8F8FA43-9ADB-4305-71A1-3DBA39E97E41}"/>
                    </a:ext>
                  </a:extLst>
                </p:cNvPr>
                <p:cNvSpPr/>
                <p:nvPr/>
              </p:nvSpPr>
              <p:spPr>
                <a:xfrm>
                  <a:off x="2167094" y="4044220"/>
                  <a:ext cx="14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PH" sz="1200" dirty="0"/>
                    <a:t>Bal. Sal. R.</a:t>
                  </a:r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39F2FE38-A88D-CB45-C14F-A5702496A37E}"/>
                  </a:ext>
                </a:extLst>
              </p:cNvPr>
              <p:cNvGrpSpPr/>
              <p:nvPr/>
            </p:nvGrpSpPr>
            <p:grpSpPr>
              <a:xfrm>
                <a:off x="3737603" y="5053531"/>
                <a:ext cx="1980000" cy="252000"/>
                <a:chOff x="1627094" y="4044220"/>
                <a:chExt cx="1980000" cy="252000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E87F3B6-15AD-A23C-9F60-32604848E573}"/>
                    </a:ext>
                  </a:extLst>
                </p:cNvPr>
                <p:cNvSpPr/>
                <p:nvPr/>
              </p:nvSpPr>
              <p:spPr>
                <a:xfrm>
                  <a:off x="1627094" y="4044220"/>
                  <a:ext cx="5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PH" sz="1200" dirty="0"/>
                    <a:t>8.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AC654BA-5D9D-90C8-6291-D0D15816FCE2}"/>
                    </a:ext>
                  </a:extLst>
                </p:cNvPr>
                <p:cNvSpPr/>
                <p:nvPr/>
              </p:nvSpPr>
              <p:spPr>
                <a:xfrm>
                  <a:off x="2167094" y="4044220"/>
                  <a:ext cx="1440000" cy="252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PH" sz="1200" dirty="0"/>
                    <a:t>Selecter</a:t>
                  </a:r>
                </a:p>
              </p:txBody>
            </p:sp>
          </p:grp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41F918E-D9F4-9229-87E8-B4E8BF998A57}"/>
              </a:ext>
            </a:extLst>
          </p:cNvPr>
          <p:cNvGrpSpPr/>
          <p:nvPr/>
        </p:nvGrpSpPr>
        <p:grpSpPr>
          <a:xfrm>
            <a:off x="9111647" y="4467935"/>
            <a:ext cx="2218491" cy="1857166"/>
            <a:chOff x="6658325" y="3821881"/>
            <a:chExt cx="3196876" cy="1857166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7F3C569-4B89-74DC-D0D7-7018C346B99A}"/>
                </a:ext>
              </a:extLst>
            </p:cNvPr>
            <p:cNvGrpSpPr/>
            <p:nvPr/>
          </p:nvGrpSpPr>
          <p:grpSpPr>
            <a:xfrm>
              <a:off x="6658325" y="3821881"/>
              <a:ext cx="3196876" cy="1857166"/>
              <a:chOff x="6445185" y="1222802"/>
              <a:chExt cx="3816415" cy="1857166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EA5C431-573D-3BE8-4113-4F79BBFC2A48}"/>
                  </a:ext>
                </a:extLst>
              </p:cNvPr>
              <p:cNvSpPr/>
              <p:nvPr/>
            </p:nvSpPr>
            <p:spPr>
              <a:xfrm>
                <a:off x="6445185" y="1222802"/>
                <a:ext cx="3816415" cy="36000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dirty="0"/>
                  <a:t>Inference Pipeline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B69214F0-62E8-02C4-F882-1C537D50E5AD}"/>
                  </a:ext>
                </a:extLst>
              </p:cNvPr>
              <p:cNvSpPr/>
              <p:nvPr/>
            </p:nvSpPr>
            <p:spPr>
              <a:xfrm>
                <a:off x="6445185" y="1582801"/>
                <a:ext cx="3816415" cy="1497167"/>
              </a:xfrm>
              <a:prstGeom prst="rect">
                <a:avLst/>
              </a:prstGeom>
              <a:pattFill prst="divot">
                <a:fgClr>
                  <a:schemeClr val="accent1"/>
                </a:fgClr>
                <a:bgClr>
                  <a:schemeClr val="bg1"/>
                </a:bgClr>
              </a:patt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B6526EB-2B07-FD03-7D7D-1A212F88C634}"/>
                </a:ext>
              </a:extLst>
            </p:cNvPr>
            <p:cNvGrpSpPr/>
            <p:nvPr/>
          </p:nvGrpSpPr>
          <p:grpSpPr>
            <a:xfrm>
              <a:off x="6958590" y="4489401"/>
              <a:ext cx="2563254" cy="252000"/>
              <a:chOff x="1627094" y="4044220"/>
              <a:chExt cx="3060000" cy="252000"/>
            </a:xfrm>
            <a:solidFill>
              <a:schemeClr val="accent1"/>
            </a:solidFill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2706F50-9E31-2E9B-04EC-EAC8DA4CC812}"/>
                  </a:ext>
                </a:extLst>
              </p:cNvPr>
              <p:cNvSpPr/>
              <p:nvPr/>
            </p:nvSpPr>
            <p:spPr>
              <a:xfrm>
                <a:off x="1627094" y="4044220"/>
                <a:ext cx="540000" cy="252000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200" dirty="0"/>
                  <a:t>1.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9B9BD56-12F7-7F00-2230-4BE48D73EFA9}"/>
                  </a:ext>
                </a:extLst>
              </p:cNvPr>
              <p:cNvSpPr/>
              <p:nvPr/>
            </p:nvSpPr>
            <p:spPr>
              <a:xfrm>
                <a:off x="2167094" y="4044220"/>
                <a:ext cx="2520000" cy="252000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PH" sz="1200" dirty="0"/>
                  <a:t>Data Prep Pipeline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8DDBBA0-423D-9883-FB1F-095C0C22488A}"/>
                </a:ext>
              </a:extLst>
            </p:cNvPr>
            <p:cNvGrpSpPr/>
            <p:nvPr/>
          </p:nvGrpSpPr>
          <p:grpSpPr>
            <a:xfrm>
              <a:off x="6958590" y="4825837"/>
              <a:ext cx="2563254" cy="470081"/>
              <a:chOff x="1627094" y="4044220"/>
              <a:chExt cx="3060000" cy="25200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EDDBF93-BB95-8753-DEA3-ABECB9CA28F2}"/>
                  </a:ext>
                </a:extLst>
              </p:cNvPr>
              <p:cNvSpPr/>
              <p:nvPr/>
            </p:nvSpPr>
            <p:spPr>
              <a:xfrm>
                <a:off x="1627094" y="4044220"/>
                <a:ext cx="540000" cy="252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200" dirty="0"/>
                  <a:t>2.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242BAFB8-D848-7498-E59C-F743DD19B42F}"/>
                  </a:ext>
                </a:extLst>
              </p:cNvPr>
              <p:cNvSpPr/>
              <p:nvPr/>
            </p:nvSpPr>
            <p:spPr>
              <a:xfrm>
                <a:off x="2167094" y="4044220"/>
                <a:ext cx="2520000" cy="252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PH" sz="1200" dirty="0"/>
                  <a:t>Random Forest + </a:t>
                </a:r>
                <a:r>
                  <a:rPr lang="en-PH" sz="1200" dirty="0" err="1"/>
                  <a:t>Shap</a:t>
                </a:r>
                <a:r>
                  <a:rPr lang="en-PH" sz="1200" dirty="0"/>
                  <a:t> Explainer</a:t>
                </a:r>
              </a:p>
            </p:txBody>
          </p:sp>
        </p:grpSp>
      </p:grp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BC77550A-3761-E1D5-4F5E-EA24BD444686}"/>
              </a:ext>
            </a:extLst>
          </p:cNvPr>
          <p:cNvCxnSpPr>
            <a:stCxn id="29" idx="3"/>
            <a:endCxn id="63" idx="1"/>
          </p:cNvCxnSpPr>
          <p:nvPr/>
        </p:nvCxnSpPr>
        <p:spPr>
          <a:xfrm>
            <a:off x="8563431" y="4647935"/>
            <a:ext cx="756587" cy="6135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681DDE69-9C58-856E-B036-C848C23CAFAE}"/>
              </a:ext>
            </a:extLst>
          </p:cNvPr>
          <p:cNvCxnSpPr>
            <a:cxnSpLocks/>
            <a:stCxn id="29" idx="1"/>
            <a:endCxn id="21" idx="1"/>
          </p:cNvCxnSpPr>
          <p:nvPr/>
        </p:nvCxnSpPr>
        <p:spPr>
          <a:xfrm rot="10800000">
            <a:off x="4058405" y="1721737"/>
            <a:ext cx="191772" cy="2926198"/>
          </a:xfrm>
          <a:prstGeom prst="bentConnector3">
            <a:avLst>
              <a:gd name="adj1" fmla="val 2192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2DA8E92-D7A3-FE32-5C9F-5E6BC8497063}"/>
              </a:ext>
            </a:extLst>
          </p:cNvPr>
          <p:cNvGrpSpPr/>
          <p:nvPr/>
        </p:nvGrpSpPr>
        <p:grpSpPr>
          <a:xfrm>
            <a:off x="8598611" y="1494903"/>
            <a:ext cx="2218491" cy="1857166"/>
            <a:chOff x="6658325" y="3821881"/>
            <a:chExt cx="3196876" cy="1857166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B7D876FE-053D-3705-DD30-6CB6FB9CD914}"/>
                </a:ext>
              </a:extLst>
            </p:cNvPr>
            <p:cNvGrpSpPr/>
            <p:nvPr/>
          </p:nvGrpSpPr>
          <p:grpSpPr>
            <a:xfrm>
              <a:off x="6658325" y="3821881"/>
              <a:ext cx="3196876" cy="1857166"/>
              <a:chOff x="6445185" y="1222802"/>
              <a:chExt cx="3816415" cy="1857166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B9CFA1B3-A71B-383A-DC75-E6638DDF50B1}"/>
                  </a:ext>
                </a:extLst>
              </p:cNvPr>
              <p:cNvSpPr/>
              <p:nvPr/>
            </p:nvSpPr>
            <p:spPr>
              <a:xfrm>
                <a:off x="6445185" y="1222802"/>
                <a:ext cx="3816415" cy="36000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dirty="0"/>
                  <a:t>Inference Pipeline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25C78917-95D8-0EBB-DDE9-35D688300027}"/>
                  </a:ext>
                </a:extLst>
              </p:cNvPr>
              <p:cNvSpPr/>
              <p:nvPr/>
            </p:nvSpPr>
            <p:spPr>
              <a:xfrm>
                <a:off x="6445185" y="1582801"/>
                <a:ext cx="3816415" cy="1497167"/>
              </a:xfrm>
              <a:prstGeom prst="rect">
                <a:avLst/>
              </a:prstGeom>
              <a:pattFill prst="divot">
                <a:fgClr>
                  <a:schemeClr val="accent1"/>
                </a:fgClr>
                <a:bgClr>
                  <a:schemeClr val="bg1"/>
                </a:bgClr>
              </a:patt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0BE86CE-1BA7-56AB-0843-1E7D762FCBD8}"/>
                </a:ext>
              </a:extLst>
            </p:cNvPr>
            <p:cNvGrpSpPr/>
            <p:nvPr/>
          </p:nvGrpSpPr>
          <p:grpSpPr>
            <a:xfrm>
              <a:off x="6958590" y="4489401"/>
              <a:ext cx="2563254" cy="252000"/>
              <a:chOff x="1627094" y="4044220"/>
              <a:chExt cx="3060000" cy="252000"/>
            </a:xfrm>
            <a:solidFill>
              <a:schemeClr val="accent1"/>
            </a:solidFill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22E3A1E-9693-FEFC-8E2B-99AC109A0E62}"/>
                  </a:ext>
                </a:extLst>
              </p:cNvPr>
              <p:cNvSpPr/>
              <p:nvPr/>
            </p:nvSpPr>
            <p:spPr>
              <a:xfrm>
                <a:off x="1627094" y="4044220"/>
                <a:ext cx="540000" cy="252000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200" dirty="0"/>
                  <a:t>1.</a:t>
                </a: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9B7A13E7-B43C-CB6A-1E50-3A1F37F7693B}"/>
                  </a:ext>
                </a:extLst>
              </p:cNvPr>
              <p:cNvSpPr/>
              <p:nvPr/>
            </p:nvSpPr>
            <p:spPr>
              <a:xfrm>
                <a:off x="2167094" y="4044220"/>
                <a:ext cx="2520000" cy="252000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PH" sz="1200" dirty="0"/>
                  <a:t>Data Prep Pipeline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B719DD1-280F-2373-1518-0AD7C554457D}"/>
                </a:ext>
              </a:extLst>
            </p:cNvPr>
            <p:cNvGrpSpPr/>
            <p:nvPr/>
          </p:nvGrpSpPr>
          <p:grpSpPr>
            <a:xfrm>
              <a:off x="6958590" y="4825837"/>
              <a:ext cx="2563254" cy="470081"/>
              <a:chOff x="1627094" y="4044220"/>
              <a:chExt cx="3060000" cy="2520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46BDBF1-2A56-571E-01BE-A184A0C5DB8C}"/>
                  </a:ext>
                </a:extLst>
              </p:cNvPr>
              <p:cNvSpPr/>
              <p:nvPr/>
            </p:nvSpPr>
            <p:spPr>
              <a:xfrm>
                <a:off x="1627094" y="4044220"/>
                <a:ext cx="540000" cy="252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200" dirty="0"/>
                  <a:t>2.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3AD7ED0-C3D6-F35F-C9F3-DBDA77441B4C}"/>
                  </a:ext>
                </a:extLst>
              </p:cNvPr>
              <p:cNvSpPr/>
              <p:nvPr/>
            </p:nvSpPr>
            <p:spPr>
              <a:xfrm>
                <a:off x="2167094" y="4044220"/>
                <a:ext cx="2520000" cy="252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PH" sz="1200" dirty="0"/>
                  <a:t>Random Forest + </a:t>
                </a:r>
                <a:r>
                  <a:rPr lang="en-PH" sz="1200" dirty="0" err="1"/>
                  <a:t>Shap</a:t>
                </a:r>
                <a:r>
                  <a:rPr lang="en-PH" sz="1200" dirty="0"/>
                  <a:t> Explainer</a:t>
                </a:r>
              </a:p>
            </p:txBody>
          </p:sp>
        </p:grp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9E0533B5-885C-175E-711D-C1D71F13A619}"/>
              </a:ext>
            </a:extLst>
          </p:cNvPr>
          <p:cNvSpPr txBox="1"/>
          <p:nvPr/>
        </p:nvSpPr>
        <p:spPr>
          <a:xfrm>
            <a:off x="5616363" y="4204782"/>
            <a:ext cx="158088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PH" sz="1050" i="1" dirty="0">
                <a:solidFill>
                  <a:schemeClr val="bg1">
                    <a:lumMod val="50000"/>
                  </a:schemeClr>
                </a:solidFill>
              </a:rPr>
              <a:t>1. Create pipeline as </a:t>
            </a:r>
            <a:r>
              <a:rPr lang="en-PH" sz="1050" i="1" dirty="0" err="1">
                <a:solidFill>
                  <a:schemeClr val="bg1">
                    <a:lumMod val="50000"/>
                  </a:schemeClr>
                </a:solidFill>
              </a:rPr>
              <a:t>pkl</a:t>
            </a:r>
            <a:endParaRPr lang="en-PH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F4C7437-C751-150C-5E75-AA92EDCE8201}"/>
              </a:ext>
            </a:extLst>
          </p:cNvPr>
          <p:cNvSpPr txBox="1"/>
          <p:nvPr/>
        </p:nvSpPr>
        <p:spPr>
          <a:xfrm>
            <a:off x="9430451" y="4210327"/>
            <a:ext cx="158088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PH" sz="1050" i="1" dirty="0">
                <a:solidFill>
                  <a:schemeClr val="bg1">
                    <a:lumMod val="50000"/>
                  </a:schemeClr>
                </a:solidFill>
              </a:rPr>
              <a:t>2. Create pipeline as </a:t>
            </a:r>
            <a:r>
              <a:rPr lang="en-PH" sz="1050" i="1" dirty="0" err="1">
                <a:solidFill>
                  <a:schemeClr val="bg1">
                    <a:lumMod val="50000"/>
                  </a:schemeClr>
                </a:solidFill>
              </a:rPr>
              <a:t>pkl</a:t>
            </a:r>
            <a:endParaRPr lang="en-PH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003F6B4-7717-F359-E294-F9F189D917FA}"/>
              </a:ext>
            </a:extLst>
          </p:cNvPr>
          <p:cNvSpPr txBox="1"/>
          <p:nvPr/>
        </p:nvSpPr>
        <p:spPr>
          <a:xfrm rot="5400000">
            <a:off x="3157417" y="3093784"/>
            <a:ext cx="162256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PH" sz="1050" i="1" dirty="0">
                <a:solidFill>
                  <a:schemeClr val="bg1">
                    <a:lumMod val="50000"/>
                  </a:schemeClr>
                </a:solidFill>
              </a:rPr>
              <a:t>2. Record training details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571CD25-E62A-FA56-3902-35986CA0A29A}"/>
              </a:ext>
            </a:extLst>
          </p:cNvPr>
          <p:cNvSpPr txBox="1"/>
          <p:nvPr/>
        </p:nvSpPr>
        <p:spPr>
          <a:xfrm>
            <a:off x="8657567" y="1233602"/>
            <a:ext cx="2133918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PH" sz="1050" i="1" dirty="0">
                <a:solidFill>
                  <a:schemeClr val="bg1">
                    <a:lumMod val="50000"/>
                  </a:schemeClr>
                </a:solidFill>
              </a:rPr>
              <a:t>3. Load pickled inference pipeline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0F85D4A-8855-36F1-A4E4-23D9A3F01F3F}"/>
              </a:ext>
            </a:extLst>
          </p:cNvPr>
          <p:cNvSpPr txBox="1"/>
          <p:nvPr/>
        </p:nvSpPr>
        <p:spPr>
          <a:xfrm>
            <a:off x="1017954" y="4204782"/>
            <a:ext cx="1169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latin typeface="Algerian" panose="04020705040A02060702" pitchFamily="82" charset="0"/>
              </a:rPr>
              <a:t>LEGENDS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06B6953-FC88-9A33-26E5-DD1EF243C077}"/>
              </a:ext>
            </a:extLst>
          </p:cNvPr>
          <p:cNvSpPr txBox="1"/>
          <p:nvPr/>
        </p:nvSpPr>
        <p:spPr>
          <a:xfrm>
            <a:off x="155506" y="1114436"/>
            <a:ext cx="30491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dirty="0">
                <a:latin typeface="Algerian" panose="04020705040A02060702" pitchFamily="82" charset="0"/>
              </a:rPr>
              <a:t>Churn Prediction </a:t>
            </a:r>
          </a:p>
          <a:p>
            <a:pPr algn="ctr"/>
            <a:r>
              <a:rPr lang="en-PH" sz="2800" dirty="0">
                <a:latin typeface="Algerian" panose="04020705040A02060702" pitchFamily="82" charset="0"/>
              </a:rPr>
              <a:t>Model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03298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211</Words>
  <Application>Microsoft Office PowerPoint</Application>
  <PresentationFormat>Widescreen</PresentationFormat>
  <Paragraphs>89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Kristoffer M. Ferrer</dc:creator>
  <cp:lastModifiedBy>Bryan Kristoffer M. Ferrer</cp:lastModifiedBy>
  <cp:revision>3</cp:revision>
  <dcterms:created xsi:type="dcterms:W3CDTF">2025-07-09T08:45:16Z</dcterms:created>
  <dcterms:modified xsi:type="dcterms:W3CDTF">2025-07-09T10:40:07Z</dcterms:modified>
</cp:coreProperties>
</file>